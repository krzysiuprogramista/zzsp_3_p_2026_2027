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revenue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4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Team size</c:v>
                  </c:pt>
                  <c:pt idx="1">
                    <c:v>Experience</c:v>
                  </c:pt>
                  <c:pt idx="2">
                    <c:v>Age</c:v>
                  </c:pt>
                  <c:pt idx="3">
                    <c:v>Ad spend</c:v>
                  </c:pt>
                  <c:pt idx="4">
                    <c:v>Website visits</c:v>
                  </c:pt>
                  <c:pt idx="5">
                    <c:v>Customer rating</c:v>
                  </c:pt>
                  <c:pt idx="6">
                    <c:v>Noise features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</c:v>
                </c:pt>
                <c:pt idx="1">
                  <c:v>0.57</c:v>
                </c:pt>
                <c:pt idx="2">
                  <c:v>0.56</c:v>
                </c:pt>
                <c:pt idx="3">
                  <c:v>0.27</c:v>
                </c:pt>
                <c:pt idx="4">
                  <c:v>0.27</c:v>
                </c:pt>
                <c:pt idx="5">
                  <c:v>0.17</c:v>
                </c:pt>
                <c:pt idx="6">
                  <c:v>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F2A4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4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Basic</c:v>
                  </c:pt>
                  <c:pt idx="1">
                    <c:v>Standard</c:v>
                  </c:pt>
                  <c:pt idx="2">
                    <c:v>Premium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225</c:v>
                </c:pt>
                <c:pt idx="1">
                  <c:v>235</c:v>
                </c:pt>
                <c:pt idx="2">
                  <c:v>251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A4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Type</c:v>
                </c:pt>
              </c:strCache>
            </c:strRef>
          </c:tx>
          <c:spPr>
            <a:solidFill>
              <a:srgbClr val="1F2A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4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Ecommerce</c:v>
                  </c:pt>
                  <c:pt idx="1">
                    <c:v>Manufacturing</c:v>
                  </c:pt>
                  <c:pt idx="2">
                    <c:v>Retail</c:v>
                  </c:pt>
                  <c:pt idx="3">
                    <c:v>Services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244</c:v>
                </c:pt>
                <c:pt idx="1">
                  <c:v>237</c:v>
                </c:pt>
                <c:pt idx="2">
                  <c:v>228</c:v>
                </c:pt>
                <c:pt idx="3">
                  <c:v>226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A4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we learn from this dataset?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 businesses · 13 columns · what drives annual revenue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at a glance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(rows)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06040" y="13716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15087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21488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5087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~$233K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1488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annual revenue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20840" y="13716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0840" y="15087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$103K–$415K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21488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range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1089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profile: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experience, team size, region, business type, subscription plan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ad spend, website visits, customer rating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— the main thing we can explain or predict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 and experience matter most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852160" y="146304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annual revenue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Bigger, more experienced businesses earn more.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and traffic help, but far less.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forest reaches R² ≈ 0.78 — revenue is quite predictable.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plans and e-commerce earn more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revenue by subscription plan ($K)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40233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revenue by business type ($K)</a:t>
            </a:r>
            <a:endParaRPr lang="en-US" sz="14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4663440" y="1554480"/>
          <a:ext cx="40233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matters little: Upper Egypt trails slightly (~$222K vs ~$233–236K elsewhere).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to watch out for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840480" cy="15544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898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columns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and experience correlate at 0.98; ad spend and website visits at 0.97. Use one of each in a model.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3840480" cy="15544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3898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columns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8308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noise_feature_1 and _2 have ~0 correlation with revenue — safe to drop.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3840480" cy="15544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1272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5204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 tops out at exactly $180K (16 rows at $100K+), and visits reach 545K — check for capping or errors.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3017520"/>
            <a:ext cx="3840480" cy="15544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31272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≠ causation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5204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ad spend correlating with revenue doesn’t prove ads cause it.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 do with 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revenue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regression model (≈78% of variance explained already).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marketing efficiency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revenue per ad dollar and per website visit across segments.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businesses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by size, plan and type to find high-value profiles.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 upgrades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Premium’s +$26K holds after controlling for team size.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2026-09-29T15:38:12Z</dcterms:created>
  <dcterms:modified xsi:type="dcterms:W3CDTF">2026-09-29T15:38:12Z</dcterms:modified>
</cp:coreProperties>
</file>