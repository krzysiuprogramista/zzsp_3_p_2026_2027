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IBM Plex Mono Bold" charset="1" panose="020B0809050203000203"/>
      <p:regular r:id="rId16"/>
    </p:embeddedFont>
    <p:embeddedFont>
      <p:font typeface="Archivo Black" charset="1" panose="020B0A03020202020B04"/>
      <p:regular r:id="rId17"/>
    </p:embeddedFont>
    <p:embeddedFont>
      <p:font typeface="DM Sans" charset="1" panose="00000000000000000000"/>
      <p:regular r:id="rId18"/>
    </p:embeddedFont>
    <p:embeddedFont>
      <p:font typeface="IBM Plex Mono" charset="1" panose="020B0509050203000203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3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0" y="0"/>
            <a:ext cx="8001000" cy="10287000"/>
          </a:xfrm>
          <a:custGeom>
            <a:avLst/>
            <a:gdLst/>
            <a:ahLst/>
            <a:cxnLst/>
            <a:rect r="r" b="b" t="t" l="l"/>
            <a:pathLst>
              <a:path h="10287000" w="8001000">
                <a:moveTo>
                  <a:pt x="0" y="0"/>
                </a:moveTo>
                <a:lnTo>
                  <a:pt x="8001000" y="0"/>
                </a:lnTo>
                <a:lnTo>
                  <a:pt x="8001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8" r="0" b="-98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9334500" y="0"/>
            <a:ext cx="2857500" cy="10287000"/>
            <a:chOff x="0" y="0"/>
            <a:chExt cx="3810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10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073B3A">
                    <a:alpha val="100000"/>
                  </a:srgbClr>
                </a:gs>
                <a:gs pos="100000">
                  <a:srgbClr val="073B3A">
                    <a:alpha val="0"/>
                  </a:srgbClr>
                </a:gs>
              </a:gsLst>
              <a:lin ang="162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810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133350"/>
            <a:chOff x="0" y="0"/>
            <a:chExt cx="24384000" cy="177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177800"/>
            </a:xfrm>
            <a:custGeom>
              <a:avLst/>
              <a:gdLst/>
              <a:ahLst/>
              <a:cxnLst/>
              <a:rect r="r" b="b" t="t" l="l"/>
              <a:pathLst>
                <a:path h="177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EF6A5B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43840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90600" y="1104900"/>
            <a:ext cx="762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EF6A5B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BOARDGAMEGEEK ARTISTS DATASET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0600" y="2419350"/>
            <a:ext cx="10001250" cy="1989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44"/>
              </a:lnSpc>
            </a:pPr>
            <a:r>
              <a:rPr lang="en-US" sz="7800">
                <a:solidFill>
                  <a:srgbClr val="FFFAF0"/>
                </a:solidFill>
                <a:latin typeface="Archivo Black"/>
                <a:ea typeface="Archivo Black"/>
                <a:cs typeface="Archivo Black"/>
                <a:sym typeface="Archivo Black"/>
              </a:rPr>
              <a:t>Who Draws</a:t>
            </a:r>
          </a:p>
          <a:p>
            <a:pPr algn="l">
              <a:lnSpc>
                <a:spcPts val="7644"/>
              </a:lnSpc>
            </a:pPr>
            <a:r>
              <a:rPr lang="en-US" sz="7800">
                <a:solidFill>
                  <a:srgbClr val="FFFAF0"/>
                </a:solidFill>
                <a:latin typeface="Archivo Black"/>
                <a:ea typeface="Archivo Black"/>
                <a:cs typeface="Archivo Black"/>
                <a:sym typeface="Archivo Black"/>
              </a:rPr>
              <a:t>Board Games?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0600" y="5391150"/>
            <a:ext cx="7334250" cy="739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175">
                <a:solidFill>
                  <a:srgbClr val="FFFAF0"/>
                </a:solidFill>
                <a:latin typeface="DM Sans"/>
                <a:ea typeface="DM Sans"/>
                <a:cs typeface="DM Sans"/>
                <a:sym typeface="DM Sans"/>
              </a:rPr>
              <a:t>An exploratory analysis of 21,925 games × 1,678 named artists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0600" y="8115300"/>
            <a:ext cx="7810500" cy="264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 spc="126">
                <a:solidFill>
                  <a:srgbClr val="9FC7B8"/>
                </a:solidFill>
                <a:latin typeface="IBM Plex Mono"/>
                <a:ea typeface="IBM Plex Mono"/>
                <a:cs typeface="IBM Plex Mono"/>
                <a:sym typeface="IBM Plex Mono"/>
              </a:rPr>
              <a:t>ONE-HOT MATRIX  •  CREDITS  •  COLLABORATIONS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90600" y="9715500"/>
            <a:ext cx="16249650" cy="203835"/>
            <a:chOff x="0" y="0"/>
            <a:chExt cx="21666200" cy="271780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-28575"/>
              <a:ext cx="10160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08">
                  <a:solidFill>
                    <a:srgbClr val="9FC7B8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BGG ARTISTS / EXPLORATORY ANALYSIS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20396200" y="-28575"/>
              <a:ext cx="1270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889"/>
                </a:lnSpc>
              </a:pPr>
              <a:r>
                <a:rPr lang="en-US" sz="1350">
                  <a:solidFill>
                    <a:srgbClr val="9FC7B8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01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6F0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3350"/>
            <a:chOff x="0" y="0"/>
            <a:chExt cx="24384000" cy="177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77800"/>
            </a:xfrm>
            <a:custGeom>
              <a:avLst/>
              <a:gdLst/>
              <a:ahLst/>
              <a:cxnLst/>
              <a:rect r="r" b="b" t="t" l="l"/>
              <a:pathLst>
                <a:path h="177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EF6A5B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90600" y="723900"/>
            <a:ext cx="5715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EF6A5B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01 / STRUCTURE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90600" y="1362075"/>
            <a:ext cx="11906250" cy="675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9"/>
              </a:lnSpc>
            </a:pPr>
            <a:r>
              <a:rPr lang="en-US" sz="4950">
                <a:solidFill>
                  <a:srgbClr val="123534"/>
                </a:solidFill>
                <a:latin typeface="Archivo Black"/>
                <a:ea typeface="Archivo Black"/>
                <a:cs typeface="Archivo Black"/>
                <a:sym typeface="Archivo Black"/>
              </a:rPr>
              <a:t>The data is a binary map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0600" y="2295525"/>
            <a:ext cx="9906000" cy="739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175">
                <a:solidFill>
                  <a:srgbClr val="123534"/>
                </a:solidFill>
                <a:latin typeface="DM Sans"/>
                <a:ea typeface="DM Sans"/>
                <a:cs typeface="DM Sans"/>
                <a:sym typeface="DM Sans"/>
              </a:rPr>
              <a:t>One row per game (BGGId). One 0/1 column per named artist. A 1 means that artist is credited on that game.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0600" y="4000500"/>
            <a:ext cx="9772650" cy="1243965"/>
            <a:chOff x="0" y="0"/>
            <a:chExt cx="13030200" cy="165862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61925"/>
              <a:ext cx="6350000" cy="1362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125"/>
                </a:lnSpc>
              </a:pPr>
              <a:r>
                <a:rPr lang="en-US" sz="7500">
                  <a:solidFill>
                    <a:srgbClr val="EF6A5B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21,925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295400"/>
              <a:ext cx="5080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98" b="true">
                  <a:solidFill>
                    <a:srgbClr val="EF6A5B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GAME ROWS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6680200" y="161925"/>
              <a:ext cx="6350000" cy="1362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125"/>
                </a:lnSpc>
              </a:pPr>
              <a:r>
                <a:rPr lang="en-US" sz="7500">
                  <a:solidFill>
                    <a:srgbClr val="EF6A5B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1,678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6680200" y="1295400"/>
              <a:ext cx="5080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98" b="true">
                  <a:solidFill>
                    <a:srgbClr val="EF6A5B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ARTIST COLUMNS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90600" y="6191250"/>
            <a:ext cx="6496050" cy="2152650"/>
            <a:chOff x="0" y="0"/>
            <a:chExt cx="8661400" cy="287020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660400" cy="279400"/>
              <a:chOff x="0" y="0"/>
              <a:chExt cx="660400" cy="2794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660400" cy="279400"/>
              </a:xfrm>
              <a:custGeom>
                <a:avLst/>
                <a:gdLst/>
                <a:ahLst/>
                <a:cxnLst/>
                <a:rect r="r" b="b" t="t" l="l"/>
                <a:pathLst>
                  <a:path h="279400" w="660400">
                    <a:moveTo>
                      <a:pt x="0" y="0"/>
                    </a:moveTo>
                    <a:lnTo>
                      <a:pt x="660400" y="0"/>
                    </a:lnTo>
                    <a:lnTo>
                      <a:pt x="660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660400" cy="317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889000" y="0"/>
              <a:ext cx="660400" cy="279400"/>
              <a:chOff x="0" y="0"/>
              <a:chExt cx="660400" cy="2794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660400" cy="279400"/>
              </a:xfrm>
              <a:custGeom>
                <a:avLst/>
                <a:gdLst/>
                <a:ahLst/>
                <a:cxnLst/>
                <a:rect r="r" b="b" t="t" l="l"/>
                <a:pathLst>
                  <a:path h="279400" w="660400">
                    <a:moveTo>
                      <a:pt x="0" y="0"/>
                    </a:moveTo>
                    <a:lnTo>
                      <a:pt x="660400" y="0"/>
                    </a:lnTo>
                    <a:lnTo>
                      <a:pt x="660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660400" cy="317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1778000" y="0"/>
              <a:ext cx="660400" cy="279400"/>
              <a:chOff x="0" y="0"/>
              <a:chExt cx="660400" cy="2794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660400" cy="279400"/>
              </a:xfrm>
              <a:custGeom>
                <a:avLst/>
                <a:gdLst/>
                <a:ahLst/>
                <a:cxnLst/>
                <a:rect r="r" b="b" t="t" l="l"/>
                <a:pathLst>
                  <a:path h="279400" w="660400">
                    <a:moveTo>
                      <a:pt x="0" y="0"/>
                    </a:moveTo>
                    <a:lnTo>
                      <a:pt x="660400" y="0"/>
                    </a:lnTo>
                    <a:lnTo>
                      <a:pt x="660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660400" cy="317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2667000" y="0"/>
              <a:ext cx="660400" cy="279400"/>
              <a:chOff x="0" y="0"/>
              <a:chExt cx="660400" cy="2794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660400" cy="279400"/>
              </a:xfrm>
              <a:custGeom>
                <a:avLst/>
                <a:gdLst/>
                <a:ahLst/>
                <a:cxnLst/>
                <a:rect r="r" b="b" t="t" l="l"/>
                <a:pathLst>
                  <a:path h="279400" w="660400">
                    <a:moveTo>
                      <a:pt x="0" y="0"/>
                    </a:moveTo>
                    <a:lnTo>
                      <a:pt x="660400" y="0"/>
                    </a:lnTo>
                    <a:lnTo>
                      <a:pt x="660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660400" cy="317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3556000" y="0"/>
              <a:ext cx="660400" cy="279400"/>
              <a:chOff x="0" y="0"/>
              <a:chExt cx="660400" cy="2794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660400" cy="279400"/>
              </a:xfrm>
              <a:custGeom>
                <a:avLst/>
                <a:gdLst/>
                <a:ahLst/>
                <a:cxnLst/>
                <a:rect r="r" b="b" t="t" l="l"/>
                <a:pathLst>
                  <a:path h="279400" w="660400">
                    <a:moveTo>
                      <a:pt x="0" y="0"/>
                    </a:moveTo>
                    <a:lnTo>
                      <a:pt x="660400" y="0"/>
                    </a:lnTo>
                    <a:lnTo>
                      <a:pt x="660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660400" cy="317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4445000" y="0"/>
              <a:ext cx="660400" cy="279400"/>
              <a:chOff x="0" y="0"/>
              <a:chExt cx="660400" cy="2794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660400" cy="279400"/>
              </a:xfrm>
              <a:custGeom>
                <a:avLst/>
                <a:gdLst/>
                <a:ahLst/>
                <a:cxnLst/>
                <a:rect r="r" b="b" t="t" l="l"/>
                <a:pathLst>
                  <a:path h="279400" w="660400">
                    <a:moveTo>
                      <a:pt x="0" y="0"/>
                    </a:moveTo>
                    <a:lnTo>
                      <a:pt x="660400" y="0"/>
                    </a:lnTo>
                    <a:lnTo>
                      <a:pt x="660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38100"/>
                <a:ext cx="660400" cy="317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5334000" y="0"/>
              <a:ext cx="660400" cy="279400"/>
              <a:chOff x="0" y="0"/>
              <a:chExt cx="660400" cy="2794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660400" cy="279400"/>
              </a:xfrm>
              <a:custGeom>
                <a:avLst/>
                <a:gdLst/>
                <a:ahLst/>
                <a:cxnLst/>
                <a:rect r="r" b="b" t="t" l="l"/>
                <a:pathLst>
                  <a:path h="279400" w="660400">
                    <a:moveTo>
                      <a:pt x="0" y="0"/>
                    </a:moveTo>
                    <a:lnTo>
                      <a:pt x="660400" y="0"/>
                    </a:lnTo>
                    <a:lnTo>
                      <a:pt x="660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38100"/>
                <a:ext cx="660400" cy="317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6223000" y="0"/>
              <a:ext cx="660400" cy="279400"/>
              <a:chOff x="0" y="0"/>
              <a:chExt cx="660400" cy="2794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660400" cy="279400"/>
              </a:xfrm>
              <a:custGeom>
                <a:avLst/>
                <a:gdLst/>
                <a:ahLst/>
                <a:cxnLst/>
                <a:rect r="r" b="b" t="t" l="l"/>
                <a:pathLst>
                  <a:path h="279400" w="660400">
                    <a:moveTo>
                      <a:pt x="0" y="0"/>
                    </a:moveTo>
                    <a:lnTo>
                      <a:pt x="660400" y="0"/>
                    </a:lnTo>
                    <a:lnTo>
                      <a:pt x="660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38100"/>
                <a:ext cx="660400" cy="317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0">
              <a:off x="7112000" y="0"/>
              <a:ext cx="660400" cy="279400"/>
              <a:chOff x="0" y="0"/>
              <a:chExt cx="660400" cy="2794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660400" cy="279400"/>
              </a:xfrm>
              <a:custGeom>
                <a:avLst/>
                <a:gdLst/>
                <a:ahLst/>
                <a:cxnLst/>
                <a:rect r="r" b="b" t="t" l="l"/>
                <a:pathLst>
                  <a:path h="279400" w="660400">
                    <a:moveTo>
                      <a:pt x="0" y="0"/>
                    </a:moveTo>
                    <a:lnTo>
                      <a:pt x="660400" y="0"/>
                    </a:lnTo>
                    <a:lnTo>
                      <a:pt x="660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38100"/>
                <a:ext cx="660400" cy="317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0">
              <a:off x="8001000" y="0"/>
              <a:ext cx="660400" cy="279400"/>
              <a:chOff x="0" y="0"/>
              <a:chExt cx="660400" cy="2794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660400" cy="279400"/>
              </a:xfrm>
              <a:custGeom>
                <a:avLst/>
                <a:gdLst/>
                <a:ahLst/>
                <a:cxnLst/>
                <a:rect r="r" b="b" t="t" l="l"/>
                <a:pathLst>
                  <a:path h="279400" w="660400">
                    <a:moveTo>
                      <a:pt x="0" y="0"/>
                    </a:moveTo>
                    <a:lnTo>
                      <a:pt x="660400" y="0"/>
                    </a:lnTo>
                    <a:lnTo>
                      <a:pt x="660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38100"/>
                <a:ext cx="660400" cy="317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0">
              <a:off x="0" y="431800"/>
              <a:ext cx="660400" cy="279400"/>
              <a:chOff x="0" y="0"/>
              <a:chExt cx="660400" cy="27940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660400" cy="279400"/>
              </a:xfrm>
              <a:custGeom>
                <a:avLst/>
                <a:gdLst/>
                <a:ahLst/>
                <a:cxnLst/>
                <a:rect r="r" b="b" t="t" l="l"/>
                <a:pathLst>
                  <a:path h="279400" w="660400">
                    <a:moveTo>
                      <a:pt x="0" y="0"/>
                    </a:moveTo>
                    <a:lnTo>
                      <a:pt x="660400" y="0"/>
                    </a:lnTo>
                    <a:lnTo>
                      <a:pt x="660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38100"/>
                <a:ext cx="660400" cy="317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47" id="47"/>
            <p:cNvGrpSpPr/>
            <p:nvPr/>
          </p:nvGrpSpPr>
          <p:grpSpPr>
            <a:xfrm rot="0">
              <a:off x="889000" y="431800"/>
              <a:ext cx="660400" cy="279400"/>
              <a:chOff x="0" y="0"/>
              <a:chExt cx="660400" cy="279400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660400" cy="279400"/>
              </a:xfrm>
              <a:custGeom>
                <a:avLst/>
                <a:gdLst/>
                <a:ahLst/>
                <a:cxnLst/>
                <a:rect r="r" b="b" t="t" l="l"/>
                <a:pathLst>
                  <a:path h="279400" w="660400">
                    <a:moveTo>
                      <a:pt x="0" y="0"/>
                    </a:moveTo>
                    <a:lnTo>
                      <a:pt x="660400" y="0"/>
                    </a:lnTo>
                    <a:lnTo>
                      <a:pt x="660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-38100"/>
                <a:ext cx="660400" cy="317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50" id="50"/>
            <p:cNvGrpSpPr/>
            <p:nvPr/>
          </p:nvGrpSpPr>
          <p:grpSpPr>
            <a:xfrm rot="0">
              <a:off x="1778000" y="431800"/>
              <a:ext cx="660400" cy="279400"/>
              <a:chOff x="0" y="0"/>
              <a:chExt cx="660400" cy="279400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660400" cy="279400"/>
              </a:xfrm>
              <a:custGeom>
                <a:avLst/>
                <a:gdLst/>
                <a:ahLst/>
                <a:cxnLst/>
                <a:rect r="r" b="b" t="t" l="l"/>
                <a:pathLst>
                  <a:path h="279400" w="660400">
                    <a:moveTo>
                      <a:pt x="0" y="0"/>
                    </a:moveTo>
                    <a:lnTo>
                      <a:pt x="660400" y="0"/>
                    </a:lnTo>
                    <a:lnTo>
                      <a:pt x="660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-38100"/>
                <a:ext cx="660400" cy="317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53" id="53"/>
            <p:cNvGrpSpPr/>
            <p:nvPr/>
          </p:nvGrpSpPr>
          <p:grpSpPr>
            <a:xfrm rot="0">
              <a:off x="2667000" y="431800"/>
              <a:ext cx="660400" cy="279400"/>
              <a:chOff x="0" y="0"/>
              <a:chExt cx="660400" cy="279400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660400" cy="279400"/>
              </a:xfrm>
              <a:custGeom>
                <a:avLst/>
                <a:gdLst/>
                <a:ahLst/>
                <a:cxnLst/>
                <a:rect r="r" b="b" t="t" l="l"/>
                <a:pathLst>
                  <a:path h="279400" w="660400">
                    <a:moveTo>
                      <a:pt x="0" y="0"/>
                    </a:moveTo>
                    <a:lnTo>
                      <a:pt x="660400" y="0"/>
                    </a:lnTo>
                    <a:lnTo>
                      <a:pt x="660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solidFill>
                <a:srgbClr val="EF6A5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5" id="55"/>
              <p:cNvSpPr txBox="true"/>
              <p:nvPr/>
            </p:nvSpPr>
            <p:spPr>
              <a:xfrm>
                <a:off x="0" y="-38100"/>
                <a:ext cx="660400" cy="317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56" id="56"/>
            <p:cNvGrpSpPr/>
            <p:nvPr/>
          </p:nvGrpSpPr>
          <p:grpSpPr>
            <a:xfrm rot="0">
              <a:off x="3556000" y="431800"/>
              <a:ext cx="660400" cy="279400"/>
              <a:chOff x="0" y="0"/>
              <a:chExt cx="660400" cy="279400"/>
            </a:xfrm>
          </p:grpSpPr>
          <p:sp>
            <p:nvSpPr>
              <p:cNvPr name="Freeform 57" id="57"/>
              <p:cNvSpPr/>
              <p:nvPr/>
            </p:nvSpPr>
            <p:spPr>
              <a:xfrm flipH="false" flipV="false" rot="0">
                <a:off x="0" y="0"/>
                <a:ext cx="660400" cy="279400"/>
              </a:xfrm>
              <a:custGeom>
                <a:avLst/>
                <a:gdLst/>
                <a:ahLst/>
                <a:cxnLst/>
                <a:rect r="r" b="b" t="t" l="l"/>
                <a:pathLst>
                  <a:path h="279400" w="660400">
                    <a:moveTo>
                      <a:pt x="0" y="0"/>
                    </a:moveTo>
                    <a:lnTo>
                      <a:pt x="660400" y="0"/>
                    </a:lnTo>
                    <a:lnTo>
                      <a:pt x="660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8" id="58"/>
              <p:cNvSpPr txBox="true"/>
              <p:nvPr/>
            </p:nvSpPr>
            <p:spPr>
              <a:xfrm>
                <a:off x="0" y="-38100"/>
                <a:ext cx="660400" cy="317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59" id="59"/>
            <p:cNvGrpSpPr/>
            <p:nvPr/>
          </p:nvGrpSpPr>
          <p:grpSpPr>
            <a:xfrm rot="0">
              <a:off x="4445000" y="431800"/>
              <a:ext cx="660400" cy="279400"/>
              <a:chOff x="0" y="0"/>
              <a:chExt cx="660400" cy="279400"/>
            </a:xfrm>
          </p:grpSpPr>
          <p:sp>
            <p:nvSpPr>
              <p:cNvPr name="Freeform 60" id="60"/>
              <p:cNvSpPr/>
              <p:nvPr/>
            </p:nvSpPr>
            <p:spPr>
              <a:xfrm flipH="false" flipV="false" rot="0">
                <a:off x="0" y="0"/>
                <a:ext cx="660400" cy="279400"/>
              </a:xfrm>
              <a:custGeom>
                <a:avLst/>
                <a:gdLst/>
                <a:ahLst/>
                <a:cxnLst/>
                <a:rect r="r" b="b" t="t" l="l"/>
                <a:pathLst>
                  <a:path h="279400" w="660400">
                    <a:moveTo>
                      <a:pt x="0" y="0"/>
                    </a:moveTo>
                    <a:lnTo>
                      <a:pt x="660400" y="0"/>
                    </a:lnTo>
                    <a:lnTo>
                      <a:pt x="660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1" id="61"/>
              <p:cNvSpPr txBox="true"/>
              <p:nvPr/>
            </p:nvSpPr>
            <p:spPr>
              <a:xfrm>
                <a:off x="0" y="-38100"/>
                <a:ext cx="660400" cy="317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62" id="62"/>
            <p:cNvGrpSpPr/>
            <p:nvPr/>
          </p:nvGrpSpPr>
          <p:grpSpPr>
            <a:xfrm rot="0">
              <a:off x="5334000" y="431800"/>
              <a:ext cx="660400" cy="279400"/>
              <a:chOff x="0" y="0"/>
              <a:chExt cx="660400" cy="279400"/>
            </a:xfrm>
          </p:grpSpPr>
          <p:sp>
            <p:nvSpPr>
              <p:cNvPr name="Freeform 63" id="63"/>
              <p:cNvSpPr/>
              <p:nvPr/>
            </p:nvSpPr>
            <p:spPr>
              <a:xfrm flipH="false" flipV="false" rot="0">
                <a:off x="0" y="0"/>
                <a:ext cx="660400" cy="279400"/>
              </a:xfrm>
              <a:custGeom>
                <a:avLst/>
                <a:gdLst/>
                <a:ahLst/>
                <a:cxnLst/>
                <a:rect r="r" b="b" t="t" l="l"/>
                <a:pathLst>
                  <a:path h="279400" w="660400">
                    <a:moveTo>
                      <a:pt x="0" y="0"/>
                    </a:moveTo>
                    <a:lnTo>
                      <a:pt x="660400" y="0"/>
                    </a:lnTo>
                    <a:lnTo>
                      <a:pt x="660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4" id="64"/>
              <p:cNvSpPr txBox="true"/>
              <p:nvPr/>
            </p:nvSpPr>
            <p:spPr>
              <a:xfrm>
                <a:off x="0" y="-38100"/>
                <a:ext cx="660400" cy="317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65" id="65"/>
            <p:cNvGrpSpPr/>
            <p:nvPr/>
          </p:nvGrpSpPr>
          <p:grpSpPr>
            <a:xfrm rot="0">
              <a:off x="6223000" y="431800"/>
              <a:ext cx="660400" cy="279400"/>
              <a:chOff x="0" y="0"/>
              <a:chExt cx="660400" cy="279400"/>
            </a:xfrm>
          </p:grpSpPr>
          <p:sp>
            <p:nvSpPr>
              <p:cNvPr name="Freeform 66" id="66"/>
              <p:cNvSpPr/>
              <p:nvPr/>
            </p:nvSpPr>
            <p:spPr>
              <a:xfrm flipH="false" flipV="false" rot="0">
                <a:off x="0" y="0"/>
                <a:ext cx="660400" cy="279400"/>
              </a:xfrm>
              <a:custGeom>
                <a:avLst/>
                <a:gdLst/>
                <a:ahLst/>
                <a:cxnLst/>
                <a:rect r="r" b="b" t="t" l="l"/>
                <a:pathLst>
                  <a:path h="279400" w="660400">
                    <a:moveTo>
                      <a:pt x="0" y="0"/>
                    </a:moveTo>
                    <a:lnTo>
                      <a:pt x="660400" y="0"/>
                    </a:lnTo>
                    <a:lnTo>
                      <a:pt x="660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7" id="67"/>
              <p:cNvSpPr txBox="true"/>
              <p:nvPr/>
            </p:nvSpPr>
            <p:spPr>
              <a:xfrm>
                <a:off x="0" y="-38100"/>
                <a:ext cx="660400" cy="317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68" id="68"/>
            <p:cNvGrpSpPr/>
            <p:nvPr/>
          </p:nvGrpSpPr>
          <p:grpSpPr>
            <a:xfrm rot="0">
              <a:off x="7112000" y="431800"/>
              <a:ext cx="660400" cy="279400"/>
              <a:chOff x="0" y="0"/>
              <a:chExt cx="660400" cy="279400"/>
            </a:xfrm>
          </p:grpSpPr>
          <p:sp>
            <p:nvSpPr>
              <p:cNvPr name="Freeform 69" id="69"/>
              <p:cNvSpPr/>
              <p:nvPr/>
            </p:nvSpPr>
            <p:spPr>
              <a:xfrm flipH="false" flipV="false" rot="0">
                <a:off x="0" y="0"/>
                <a:ext cx="660400" cy="279400"/>
              </a:xfrm>
              <a:custGeom>
                <a:avLst/>
                <a:gdLst/>
                <a:ahLst/>
                <a:cxnLst/>
                <a:rect r="r" b="b" t="t" l="l"/>
                <a:pathLst>
                  <a:path h="279400" w="660400">
                    <a:moveTo>
                      <a:pt x="0" y="0"/>
                    </a:moveTo>
                    <a:lnTo>
                      <a:pt x="660400" y="0"/>
                    </a:lnTo>
                    <a:lnTo>
                      <a:pt x="660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0" id="70"/>
              <p:cNvSpPr txBox="true"/>
              <p:nvPr/>
            </p:nvSpPr>
            <p:spPr>
              <a:xfrm>
                <a:off x="0" y="-38100"/>
                <a:ext cx="660400" cy="317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71" id="71"/>
            <p:cNvGrpSpPr/>
            <p:nvPr/>
          </p:nvGrpSpPr>
          <p:grpSpPr>
            <a:xfrm rot="0">
              <a:off x="8001000" y="431800"/>
              <a:ext cx="660400" cy="279400"/>
              <a:chOff x="0" y="0"/>
              <a:chExt cx="660400" cy="279400"/>
            </a:xfrm>
          </p:grpSpPr>
          <p:sp>
            <p:nvSpPr>
              <p:cNvPr name="Freeform 72" id="72"/>
              <p:cNvSpPr/>
              <p:nvPr/>
            </p:nvSpPr>
            <p:spPr>
              <a:xfrm flipH="false" flipV="false" rot="0">
                <a:off x="0" y="0"/>
                <a:ext cx="660400" cy="279400"/>
              </a:xfrm>
              <a:custGeom>
                <a:avLst/>
                <a:gdLst/>
                <a:ahLst/>
                <a:cxnLst/>
                <a:rect r="r" b="b" t="t" l="l"/>
                <a:pathLst>
                  <a:path h="279400" w="660400">
                    <a:moveTo>
                      <a:pt x="0" y="0"/>
                    </a:moveTo>
                    <a:lnTo>
                      <a:pt x="660400" y="0"/>
                    </a:lnTo>
                    <a:lnTo>
                      <a:pt x="660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3" id="73"/>
              <p:cNvSpPr txBox="true"/>
              <p:nvPr/>
            </p:nvSpPr>
            <p:spPr>
              <a:xfrm>
                <a:off x="0" y="-38100"/>
                <a:ext cx="660400" cy="317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74" id="74"/>
            <p:cNvGrpSpPr/>
            <p:nvPr/>
          </p:nvGrpSpPr>
          <p:grpSpPr>
            <a:xfrm rot="0">
              <a:off x="0" y="863600"/>
              <a:ext cx="660400" cy="279400"/>
              <a:chOff x="0" y="0"/>
              <a:chExt cx="660400" cy="279400"/>
            </a:xfrm>
          </p:grpSpPr>
          <p:sp>
            <p:nvSpPr>
              <p:cNvPr name="Freeform 75" id="75"/>
              <p:cNvSpPr/>
              <p:nvPr/>
            </p:nvSpPr>
            <p:spPr>
              <a:xfrm flipH="false" flipV="false" rot="0">
                <a:off x="0" y="0"/>
                <a:ext cx="660400" cy="279400"/>
              </a:xfrm>
              <a:custGeom>
                <a:avLst/>
                <a:gdLst/>
                <a:ahLst/>
                <a:cxnLst/>
                <a:rect r="r" b="b" t="t" l="l"/>
                <a:pathLst>
                  <a:path h="279400" w="660400">
                    <a:moveTo>
                      <a:pt x="0" y="0"/>
                    </a:moveTo>
                    <a:lnTo>
                      <a:pt x="660400" y="0"/>
                    </a:lnTo>
                    <a:lnTo>
                      <a:pt x="660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6" id="76"/>
              <p:cNvSpPr txBox="true"/>
              <p:nvPr/>
            </p:nvSpPr>
            <p:spPr>
              <a:xfrm>
                <a:off x="0" y="-38100"/>
                <a:ext cx="660400" cy="317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77" id="77"/>
            <p:cNvGrpSpPr/>
            <p:nvPr/>
          </p:nvGrpSpPr>
          <p:grpSpPr>
            <a:xfrm rot="0">
              <a:off x="889000" y="863600"/>
              <a:ext cx="660400" cy="279400"/>
              <a:chOff x="0" y="0"/>
              <a:chExt cx="660400" cy="279400"/>
            </a:xfrm>
          </p:grpSpPr>
          <p:sp>
            <p:nvSpPr>
              <p:cNvPr name="Freeform 78" id="78"/>
              <p:cNvSpPr/>
              <p:nvPr/>
            </p:nvSpPr>
            <p:spPr>
              <a:xfrm flipH="false" flipV="false" rot="0">
                <a:off x="0" y="0"/>
                <a:ext cx="660400" cy="279400"/>
              </a:xfrm>
              <a:custGeom>
                <a:avLst/>
                <a:gdLst/>
                <a:ahLst/>
                <a:cxnLst/>
                <a:rect r="r" b="b" t="t" l="l"/>
                <a:pathLst>
                  <a:path h="279400" w="660400">
                    <a:moveTo>
                      <a:pt x="0" y="0"/>
                    </a:moveTo>
                    <a:lnTo>
                      <a:pt x="660400" y="0"/>
                    </a:lnTo>
                    <a:lnTo>
                      <a:pt x="660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9" id="79"/>
              <p:cNvSpPr txBox="true"/>
              <p:nvPr/>
            </p:nvSpPr>
            <p:spPr>
              <a:xfrm>
                <a:off x="0" y="-38100"/>
                <a:ext cx="660400" cy="317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80" id="80"/>
            <p:cNvGrpSpPr/>
            <p:nvPr/>
          </p:nvGrpSpPr>
          <p:grpSpPr>
            <a:xfrm rot="0">
              <a:off x="1778000" y="863600"/>
              <a:ext cx="660400" cy="279400"/>
              <a:chOff x="0" y="0"/>
              <a:chExt cx="660400" cy="279400"/>
            </a:xfrm>
          </p:grpSpPr>
          <p:sp>
            <p:nvSpPr>
              <p:cNvPr name="Freeform 81" id="81"/>
              <p:cNvSpPr/>
              <p:nvPr/>
            </p:nvSpPr>
            <p:spPr>
              <a:xfrm flipH="false" flipV="false" rot="0">
                <a:off x="0" y="0"/>
                <a:ext cx="660400" cy="279400"/>
              </a:xfrm>
              <a:custGeom>
                <a:avLst/>
                <a:gdLst/>
                <a:ahLst/>
                <a:cxnLst/>
                <a:rect r="r" b="b" t="t" l="l"/>
                <a:pathLst>
                  <a:path h="279400" w="660400">
                    <a:moveTo>
                      <a:pt x="0" y="0"/>
                    </a:moveTo>
                    <a:lnTo>
                      <a:pt x="660400" y="0"/>
                    </a:lnTo>
                    <a:lnTo>
                      <a:pt x="660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2" id="82"/>
              <p:cNvSpPr txBox="true"/>
              <p:nvPr/>
            </p:nvSpPr>
            <p:spPr>
              <a:xfrm>
                <a:off x="0" y="-38100"/>
                <a:ext cx="660400" cy="317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83" id="83"/>
            <p:cNvGrpSpPr/>
            <p:nvPr/>
          </p:nvGrpSpPr>
          <p:grpSpPr>
            <a:xfrm rot="0">
              <a:off x="2667000" y="863600"/>
              <a:ext cx="660400" cy="279400"/>
              <a:chOff x="0" y="0"/>
              <a:chExt cx="660400" cy="279400"/>
            </a:xfrm>
          </p:grpSpPr>
          <p:sp>
            <p:nvSpPr>
              <p:cNvPr name="Freeform 84" id="84"/>
              <p:cNvSpPr/>
              <p:nvPr/>
            </p:nvSpPr>
            <p:spPr>
              <a:xfrm flipH="false" flipV="false" rot="0">
                <a:off x="0" y="0"/>
                <a:ext cx="660400" cy="279400"/>
              </a:xfrm>
              <a:custGeom>
                <a:avLst/>
                <a:gdLst/>
                <a:ahLst/>
                <a:cxnLst/>
                <a:rect r="r" b="b" t="t" l="l"/>
                <a:pathLst>
                  <a:path h="279400" w="660400">
                    <a:moveTo>
                      <a:pt x="0" y="0"/>
                    </a:moveTo>
                    <a:lnTo>
                      <a:pt x="660400" y="0"/>
                    </a:lnTo>
                    <a:lnTo>
                      <a:pt x="660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5" id="85"/>
              <p:cNvSpPr txBox="true"/>
              <p:nvPr/>
            </p:nvSpPr>
            <p:spPr>
              <a:xfrm>
                <a:off x="0" y="-38100"/>
                <a:ext cx="660400" cy="317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86" id="86"/>
            <p:cNvGrpSpPr/>
            <p:nvPr/>
          </p:nvGrpSpPr>
          <p:grpSpPr>
            <a:xfrm rot="0">
              <a:off x="3556000" y="863600"/>
              <a:ext cx="660400" cy="279400"/>
              <a:chOff x="0" y="0"/>
              <a:chExt cx="660400" cy="279400"/>
            </a:xfrm>
          </p:grpSpPr>
          <p:sp>
            <p:nvSpPr>
              <p:cNvPr name="Freeform 87" id="87"/>
              <p:cNvSpPr/>
              <p:nvPr/>
            </p:nvSpPr>
            <p:spPr>
              <a:xfrm flipH="false" flipV="false" rot="0">
                <a:off x="0" y="0"/>
                <a:ext cx="660400" cy="279400"/>
              </a:xfrm>
              <a:custGeom>
                <a:avLst/>
                <a:gdLst/>
                <a:ahLst/>
                <a:cxnLst/>
                <a:rect r="r" b="b" t="t" l="l"/>
                <a:pathLst>
                  <a:path h="279400" w="660400">
                    <a:moveTo>
                      <a:pt x="0" y="0"/>
                    </a:moveTo>
                    <a:lnTo>
                      <a:pt x="660400" y="0"/>
                    </a:lnTo>
                    <a:lnTo>
                      <a:pt x="660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8" id="88"/>
              <p:cNvSpPr txBox="true"/>
              <p:nvPr/>
            </p:nvSpPr>
            <p:spPr>
              <a:xfrm>
                <a:off x="0" y="-38100"/>
                <a:ext cx="660400" cy="317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89" id="89"/>
            <p:cNvGrpSpPr/>
            <p:nvPr/>
          </p:nvGrpSpPr>
          <p:grpSpPr>
            <a:xfrm rot="0">
              <a:off x="4445000" y="863600"/>
              <a:ext cx="660400" cy="279400"/>
              <a:chOff x="0" y="0"/>
              <a:chExt cx="660400" cy="279400"/>
            </a:xfrm>
          </p:grpSpPr>
          <p:sp>
            <p:nvSpPr>
              <p:cNvPr name="Freeform 90" id="90"/>
              <p:cNvSpPr/>
              <p:nvPr/>
            </p:nvSpPr>
            <p:spPr>
              <a:xfrm flipH="false" flipV="false" rot="0">
                <a:off x="0" y="0"/>
                <a:ext cx="660400" cy="279400"/>
              </a:xfrm>
              <a:custGeom>
                <a:avLst/>
                <a:gdLst/>
                <a:ahLst/>
                <a:cxnLst/>
                <a:rect r="r" b="b" t="t" l="l"/>
                <a:pathLst>
                  <a:path h="279400" w="660400">
                    <a:moveTo>
                      <a:pt x="0" y="0"/>
                    </a:moveTo>
                    <a:lnTo>
                      <a:pt x="660400" y="0"/>
                    </a:lnTo>
                    <a:lnTo>
                      <a:pt x="660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1" id="91"/>
              <p:cNvSpPr txBox="true"/>
              <p:nvPr/>
            </p:nvSpPr>
            <p:spPr>
              <a:xfrm>
                <a:off x="0" y="-38100"/>
                <a:ext cx="660400" cy="317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92" id="92"/>
            <p:cNvGrpSpPr/>
            <p:nvPr/>
          </p:nvGrpSpPr>
          <p:grpSpPr>
            <a:xfrm rot="0">
              <a:off x="5334000" y="863600"/>
              <a:ext cx="660400" cy="279400"/>
              <a:chOff x="0" y="0"/>
              <a:chExt cx="660400" cy="279400"/>
            </a:xfrm>
          </p:grpSpPr>
          <p:sp>
            <p:nvSpPr>
              <p:cNvPr name="Freeform 93" id="93"/>
              <p:cNvSpPr/>
              <p:nvPr/>
            </p:nvSpPr>
            <p:spPr>
              <a:xfrm flipH="false" flipV="false" rot="0">
                <a:off x="0" y="0"/>
                <a:ext cx="660400" cy="279400"/>
              </a:xfrm>
              <a:custGeom>
                <a:avLst/>
                <a:gdLst/>
                <a:ahLst/>
                <a:cxnLst/>
                <a:rect r="r" b="b" t="t" l="l"/>
                <a:pathLst>
                  <a:path h="279400" w="660400">
                    <a:moveTo>
                      <a:pt x="0" y="0"/>
                    </a:moveTo>
                    <a:lnTo>
                      <a:pt x="660400" y="0"/>
                    </a:lnTo>
                    <a:lnTo>
                      <a:pt x="660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4" id="94"/>
              <p:cNvSpPr txBox="true"/>
              <p:nvPr/>
            </p:nvSpPr>
            <p:spPr>
              <a:xfrm>
                <a:off x="0" y="-38100"/>
                <a:ext cx="660400" cy="317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95" id="95"/>
            <p:cNvGrpSpPr/>
            <p:nvPr/>
          </p:nvGrpSpPr>
          <p:grpSpPr>
            <a:xfrm rot="0">
              <a:off x="6223000" y="863600"/>
              <a:ext cx="660400" cy="279400"/>
              <a:chOff x="0" y="0"/>
              <a:chExt cx="660400" cy="279400"/>
            </a:xfrm>
          </p:grpSpPr>
          <p:sp>
            <p:nvSpPr>
              <p:cNvPr name="Freeform 96" id="96"/>
              <p:cNvSpPr/>
              <p:nvPr/>
            </p:nvSpPr>
            <p:spPr>
              <a:xfrm flipH="false" flipV="false" rot="0">
                <a:off x="0" y="0"/>
                <a:ext cx="660400" cy="279400"/>
              </a:xfrm>
              <a:custGeom>
                <a:avLst/>
                <a:gdLst/>
                <a:ahLst/>
                <a:cxnLst/>
                <a:rect r="r" b="b" t="t" l="l"/>
                <a:pathLst>
                  <a:path h="279400" w="660400">
                    <a:moveTo>
                      <a:pt x="0" y="0"/>
                    </a:moveTo>
                    <a:lnTo>
                      <a:pt x="660400" y="0"/>
                    </a:lnTo>
                    <a:lnTo>
                      <a:pt x="660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7" id="97"/>
              <p:cNvSpPr txBox="true"/>
              <p:nvPr/>
            </p:nvSpPr>
            <p:spPr>
              <a:xfrm>
                <a:off x="0" y="-38100"/>
                <a:ext cx="660400" cy="317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98" id="98"/>
            <p:cNvGrpSpPr/>
            <p:nvPr/>
          </p:nvGrpSpPr>
          <p:grpSpPr>
            <a:xfrm rot="0">
              <a:off x="7112000" y="863600"/>
              <a:ext cx="660400" cy="279400"/>
              <a:chOff x="0" y="0"/>
              <a:chExt cx="660400" cy="279400"/>
            </a:xfrm>
          </p:grpSpPr>
          <p:sp>
            <p:nvSpPr>
              <p:cNvPr name="Freeform 99" id="99"/>
              <p:cNvSpPr/>
              <p:nvPr/>
            </p:nvSpPr>
            <p:spPr>
              <a:xfrm flipH="false" flipV="false" rot="0">
                <a:off x="0" y="0"/>
                <a:ext cx="660400" cy="279400"/>
              </a:xfrm>
              <a:custGeom>
                <a:avLst/>
                <a:gdLst/>
                <a:ahLst/>
                <a:cxnLst/>
                <a:rect r="r" b="b" t="t" l="l"/>
                <a:pathLst>
                  <a:path h="279400" w="660400">
                    <a:moveTo>
                      <a:pt x="0" y="0"/>
                    </a:moveTo>
                    <a:lnTo>
                      <a:pt x="660400" y="0"/>
                    </a:lnTo>
                    <a:lnTo>
                      <a:pt x="660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00" id="100"/>
              <p:cNvSpPr txBox="true"/>
              <p:nvPr/>
            </p:nvSpPr>
            <p:spPr>
              <a:xfrm>
                <a:off x="0" y="-38100"/>
                <a:ext cx="660400" cy="317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01" id="101"/>
            <p:cNvGrpSpPr/>
            <p:nvPr/>
          </p:nvGrpSpPr>
          <p:grpSpPr>
            <a:xfrm rot="0">
              <a:off x="8001000" y="863600"/>
              <a:ext cx="660400" cy="279400"/>
              <a:chOff x="0" y="0"/>
              <a:chExt cx="660400" cy="279400"/>
            </a:xfrm>
          </p:grpSpPr>
          <p:sp>
            <p:nvSpPr>
              <p:cNvPr name="Freeform 102" id="102"/>
              <p:cNvSpPr/>
              <p:nvPr/>
            </p:nvSpPr>
            <p:spPr>
              <a:xfrm flipH="false" flipV="false" rot="0">
                <a:off x="0" y="0"/>
                <a:ext cx="660400" cy="279400"/>
              </a:xfrm>
              <a:custGeom>
                <a:avLst/>
                <a:gdLst/>
                <a:ahLst/>
                <a:cxnLst/>
                <a:rect r="r" b="b" t="t" l="l"/>
                <a:pathLst>
                  <a:path h="279400" w="660400">
                    <a:moveTo>
                      <a:pt x="0" y="0"/>
                    </a:moveTo>
                    <a:lnTo>
                      <a:pt x="660400" y="0"/>
                    </a:lnTo>
                    <a:lnTo>
                      <a:pt x="660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03" id="103"/>
              <p:cNvSpPr txBox="true"/>
              <p:nvPr/>
            </p:nvSpPr>
            <p:spPr>
              <a:xfrm>
                <a:off x="0" y="-38100"/>
                <a:ext cx="660400" cy="317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04" id="104"/>
            <p:cNvGrpSpPr/>
            <p:nvPr/>
          </p:nvGrpSpPr>
          <p:grpSpPr>
            <a:xfrm rot="0">
              <a:off x="0" y="1295400"/>
              <a:ext cx="660400" cy="279400"/>
              <a:chOff x="0" y="0"/>
              <a:chExt cx="660400" cy="279400"/>
            </a:xfrm>
          </p:grpSpPr>
          <p:sp>
            <p:nvSpPr>
              <p:cNvPr name="Freeform 105" id="105"/>
              <p:cNvSpPr/>
              <p:nvPr/>
            </p:nvSpPr>
            <p:spPr>
              <a:xfrm flipH="false" flipV="false" rot="0">
                <a:off x="0" y="0"/>
                <a:ext cx="660400" cy="279400"/>
              </a:xfrm>
              <a:custGeom>
                <a:avLst/>
                <a:gdLst/>
                <a:ahLst/>
                <a:cxnLst/>
                <a:rect r="r" b="b" t="t" l="l"/>
                <a:pathLst>
                  <a:path h="279400" w="660400">
                    <a:moveTo>
                      <a:pt x="0" y="0"/>
                    </a:moveTo>
                    <a:lnTo>
                      <a:pt x="660400" y="0"/>
                    </a:lnTo>
                    <a:lnTo>
                      <a:pt x="660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06" id="106"/>
              <p:cNvSpPr txBox="true"/>
              <p:nvPr/>
            </p:nvSpPr>
            <p:spPr>
              <a:xfrm>
                <a:off x="0" y="-38100"/>
                <a:ext cx="660400" cy="317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07" id="107"/>
            <p:cNvGrpSpPr/>
            <p:nvPr/>
          </p:nvGrpSpPr>
          <p:grpSpPr>
            <a:xfrm rot="0">
              <a:off x="889000" y="1295400"/>
              <a:ext cx="660400" cy="279400"/>
              <a:chOff x="0" y="0"/>
              <a:chExt cx="660400" cy="279400"/>
            </a:xfrm>
          </p:grpSpPr>
          <p:sp>
            <p:nvSpPr>
              <p:cNvPr name="Freeform 108" id="108"/>
              <p:cNvSpPr/>
              <p:nvPr/>
            </p:nvSpPr>
            <p:spPr>
              <a:xfrm flipH="false" flipV="false" rot="0">
                <a:off x="0" y="0"/>
                <a:ext cx="660400" cy="279400"/>
              </a:xfrm>
              <a:custGeom>
                <a:avLst/>
                <a:gdLst/>
                <a:ahLst/>
                <a:cxnLst/>
                <a:rect r="r" b="b" t="t" l="l"/>
                <a:pathLst>
                  <a:path h="279400" w="660400">
                    <a:moveTo>
                      <a:pt x="0" y="0"/>
                    </a:moveTo>
                    <a:lnTo>
                      <a:pt x="660400" y="0"/>
                    </a:lnTo>
                    <a:lnTo>
                      <a:pt x="660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09" id="109"/>
              <p:cNvSpPr txBox="true"/>
              <p:nvPr/>
            </p:nvSpPr>
            <p:spPr>
              <a:xfrm>
                <a:off x="0" y="-38100"/>
                <a:ext cx="660400" cy="317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10" id="110"/>
            <p:cNvGrpSpPr/>
            <p:nvPr/>
          </p:nvGrpSpPr>
          <p:grpSpPr>
            <a:xfrm rot="0">
              <a:off x="1778000" y="1295400"/>
              <a:ext cx="660400" cy="279400"/>
              <a:chOff x="0" y="0"/>
              <a:chExt cx="660400" cy="279400"/>
            </a:xfrm>
          </p:grpSpPr>
          <p:sp>
            <p:nvSpPr>
              <p:cNvPr name="Freeform 111" id="111"/>
              <p:cNvSpPr/>
              <p:nvPr/>
            </p:nvSpPr>
            <p:spPr>
              <a:xfrm flipH="false" flipV="false" rot="0">
                <a:off x="0" y="0"/>
                <a:ext cx="660400" cy="279400"/>
              </a:xfrm>
              <a:custGeom>
                <a:avLst/>
                <a:gdLst/>
                <a:ahLst/>
                <a:cxnLst/>
                <a:rect r="r" b="b" t="t" l="l"/>
                <a:pathLst>
                  <a:path h="279400" w="660400">
                    <a:moveTo>
                      <a:pt x="0" y="0"/>
                    </a:moveTo>
                    <a:lnTo>
                      <a:pt x="660400" y="0"/>
                    </a:lnTo>
                    <a:lnTo>
                      <a:pt x="660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2" id="112"/>
              <p:cNvSpPr txBox="true"/>
              <p:nvPr/>
            </p:nvSpPr>
            <p:spPr>
              <a:xfrm>
                <a:off x="0" y="-38100"/>
                <a:ext cx="660400" cy="317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13" id="113"/>
            <p:cNvGrpSpPr/>
            <p:nvPr/>
          </p:nvGrpSpPr>
          <p:grpSpPr>
            <a:xfrm rot="0">
              <a:off x="2667000" y="1295400"/>
              <a:ext cx="660400" cy="279400"/>
              <a:chOff x="0" y="0"/>
              <a:chExt cx="660400" cy="279400"/>
            </a:xfrm>
          </p:grpSpPr>
          <p:sp>
            <p:nvSpPr>
              <p:cNvPr name="Freeform 114" id="114"/>
              <p:cNvSpPr/>
              <p:nvPr/>
            </p:nvSpPr>
            <p:spPr>
              <a:xfrm flipH="false" flipV="false" rot="0">
                <a:off x="0" y="0"/>
                <a:ext cx="660400" cy="279400"/>
              </a:xfrm>
              <a:custGeom>
                <a:avLst/>
                <a:gdLst/>
                <a:ahLst/>
                <a:cxnLst/>
                <a:rect r="r" b="b" t="t" l="l"/>
                <a:pathLst>
                  <a:path h="279400" w="660400">
                    <a:moveTo>
                      <a:pt x="0" y="0"/>
                    </a:moveTo>
                    <a:lnTo>
                      <a:pt x="660400" y="0"/>
                    </a:lnTo>
                    <a:lnTo>
                      <a:pt x="660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5" id="115"/>
              <p:cNvSpPr txBox="true"/>
              <p:nvPr/>
            </p:nvSpPr>
            <p:spPr>
              <a:xfrm>
                <a:off x="0" y="-38100"/>
                <a:ext cx="660400" cy="317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16" id="116"/>
            <p:cNvGrpSpPr/>
            <p:nvPr/>
          </p:nvGrpSpPr>
          <p:grpSpPr>
            <a:xfrm rot="0">
              <a:off x="3556000" y="1295400"/>
              <a:ext cx="660400" cy="279400"/>
              <a:chOff x="0" y="0"/>
              <a:chExt cx="660400" cy="279400"/>
            </a:xfrm>
          </p:grpSpPr>
          <p:sp>
            <p:nvSpPr>
              <p:cNvPr name="Freeform 117" id="117"/>
              <p:cNvSpPr/>
              <p:nvPr/>
            </p:nvSpPr>
            <p:spPr>
              <a:xfrm flipH="false" flipV="false" rot="0">
                <a:off x="0" y="0"/>
                <a:ext cx="660400" cy="279400"/>
              </a:xfrm>
              <a:custGeom>
                <a:avLst/>
                <a:gdLst/>
                <a:ahLst/>
                <a:cxnLst/>
                <a:rect r="r" b="b" t="t" l="l"/>
                <a:pathLst>
                  <a:path h="279400" w="660400">
                    <a:moveTo>
                      <a:pt x="0" y="0"/>
                    </a:moveTo>
                    <a:lnTo>
                      <a:pt x="660400" y="0"/>
                    </a:lnTo>
                    <a:lnTo>
                      <a:pt x="660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8" id="118"/>
              <p:cNvSpPr txBox="true"/>
              <p:nvPr/>
            </p:nvSpPr>
            <p:spPr>
              <a:xfrm>
                <a:off x="0" y="-38100"/>
                <a:ext cx="660400" cy="317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19" id="119"/>
            <p:cNvGrpSpPr/>
            <p:nvPr/>
          </p:nvGrpSpPr>
          <p:grpSpPr>
            <a:xfrm rot="0">
              <a:off x="4445000" y="1295400"/>
              <a:ext cx="660400" cy="279400"/>
              <a:chOff x="0" y="0"/>
              <a:chExt cx="660400" cy="279400"/>
            </a:xfrm>
          </p:grpSpPr>
          <p:sp>
            <p:nvSpPr>
              <p:cNvPr name="Freeform 120" id="120"/>
              <p:cNvSpPr/>
              <p:nvPr/>
            </p:nvSpPr>
            <p:spPr>
              <a:xfrm flipH="false" flipV="false" rot="0">
                <a:off x="0" y="0"/>
                <a:ext cx="660400" cy="279400"/>
              </a:xfrm>
              <a:custGeom>
                <a:avLst/>
                <a:gdLst/>
                <a:ahLst/>
                <a:cxnLst/>
                <a:rect r="r" b="b" t="t" l="l"/>
                <a:pathLst>
                  <a:path h="279400" w="660400">
                    <a:moveTo>
                      <a:pt x="0" y="0"/>
                    </a:moveTo>
                    <a:lnTo>
                      <a:pt x="660400" y="0"/>
                    </a:lnTo>
                    <a:lnTo>
                      <a:pt x="660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1" id="121"/>
              <p:cNvSpPr txBox="true"/>
              <p:nvPr/>
            </p:nvSpPr>
            <p:spPr>
              <a:xfrm>
                <a:off x="0" y="-38100"/>
                <a:ext cx="660400" cy="317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22" id="122"/>
            <p:cNvGrpSpPr/>
            <p:nvPr/>
          </p:nvGrpSpPr>
          <p:grpSpPr>
            <a:xfrm rot="0">
              <a:off x="5334000" y="1295400"/>
              <a:ext cx="660400" cy="279400"/>
              <a:chOff x="0" y="0"/>
              <a:chExt cx="660400" cy="279400"/>
            </a:xfrm>
          </p:grpSpPr>
          <p:sp>
            <p:nvSpPr>
              <p:cNvPr name="Freeform 123" id="123"/>
              <p:cNvSpPr/>
              <p:nvPr/>
            </p:nvSpPr>
            <p:spPr>
              <a:xfrm flipH="false" flipV="false" rot="0">
                <a:off x="0" y="0"/>
                <a:ext cx="660400" cy="279400"/>
              </a:xfrm>
              <a:custGeom>
                <a:avLst/>
                <a:gdLst/>
                <a:ahLst/>
                <a:cxnLst/>
                <a:rect r="r" b="b" t="t" l="l"/>
                <a:pathLst>
                  <a:path h="279400" w="660400">
                    <a:moveTo>
                      <a:pt x="0" y="0"/>
                    </a:moveTo>
                    <a:lnTo>
                      <a:pt x="660400" y="0"/>
                    </a:lnTo>
                    <a:lnTo>
                      <a:pt x="660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4" id="124"/>
              <p:cNvSpPr txBox="true"/>
              <p:nvPr/>
            </p:nvSpPr>
            <p:spPr>
              <a:xfrm>
                <a:off x="0" y="-38100"/>
                <a:ext cx="660400" cy="317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25" id="125"/>
            <p:cNvGrpSpPr/>
            <p:nvPr/>
          </p:nvGrpSpPr>
          <p:grpSpPr>
            <a:xfrm rot="0">
              <a:off x="6223000" y="1295400"/>
              <a:ext cx="660400" cy="279400"/>
              <a:chOff x="0" y="0"/>
              <a:chExt cx="660400" cy="279400"/>
            </a:xfrm>
          </p:grpSpPr>
          <p:sp>
            <p:nvSpPr>
              <p:cNvPr name="Freeform 126" id="126"/>
              <p:cNvSpPr/>
              <p:nvPr/>
            </p:nvSpPr>
            <p:spPr>
              <a:xfrm flipH="false" flipV="false" rot="0">
                <a:off x="0" y="0"/>
                <a:ext cx="660400" cy="279400"/>
              </a:xfrm>
              <a:custGeom>
                <a:avLst/>
                <a:gdLst/>
                <a:ahLst/>
                <a:cxnLst/>
                <a:rect r="r" b="b" t="t" l="l"/>
                <a:pathLst>
                  <a:path h="279400" w="660400">
                    <a:moveTo>
                      <a:pt x="0" y="0"/>
                    </a:moveTo>
                    <a:lnTo>
                      <a:pt x="660400" y="0"/>
                    </a:lnTo>
                    <a:lnTo>
                      <a:pt x="660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7" id="127"/>
              <p:cNvSpPr txBox="true"/>
              <p:nvPr/>
            </p:nvSpPr>
            <p:spPr>
              <a:xfrm>
                <a:off x="0" y="-38100"/>
                <a:ext cx="660400" cy="317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28" id="128"/>
            <p:cNvGrpSpPr/>
            <p:nvPr/>
          </p:nvGrpSpPr>
          <p:grpSpPr>
            <a:xfrm rot="0">
              <a:off x="7112000" y="1295400"/>
              <a:ext cx="660400" cy="279400"/>
              <a:chOff x="0" y="0"/>
              <a:chExt cx="660400" cy="279400"/>
            </a:xfrm>
          </p:grpSpPr>
          <p:sp>
            <p:nvSpPr>
              <p:cNvPr name="Freeform 129" id="129"/>
              <p:cNvSpPr/>
              <p:nvPr/>
            </p:nvSpPr>
            <p:spPr>
              <a:xfrm flipH="false" flipV="false" rot="0">
                <a:off x="0" y="0"/>
                <a:ext cx="660400" cy="279400"/>
              </a:xfrm>
              <a:custGeom>
                <a:avLst/>
                <a:gdLst/>
                <a:ahLst/>
                <a:cxnLst/>
                <a:rect r="r" b="b" t="t" l="l"/>
                <a:pathLst>
                  <a:path h="279400" w="660400">
                    <a:moveTo>
                      <a:pt x="0" y="0"/>
                    </a:moveTo>
                    <a:lnTo>
                      <a:pt x="660400" y="0"/>
                    </a:lnTo>
                    <a:lnTo>
                      <a:pt x="660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0" id="130"/>
              <p:cNvSpPr txBox="true"/>
              <p:nvPr/>
            </p:nvSpPr>
            <p:spPr>
              <a:xfrm>
                <a:off x="0" y="-38100"/>
                <a:ext cx="660400" cy="317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31" id="131"/>
            <p:cNvGrpSpPr/>
            <p:nvPr/>
          </p:nvGrpSpPr>
          <p:grpSpPr>
            <a:xfrm rot="0">
              <a:off x="8001000" y="1295400"/>
              <a:ext cx="660400" cy="279400"/>
              <a:chOff x="0" y="0"/>
              <a:chExt cx="660400" cy="279400"/>
            </a:xfrm>
          </p:grpSpPr>
          <p:sp>
            <p:nvSpPr>
              <p:cNvPr name="Freeform 132" id="132"/>
              <p:cNvSpPr/>
              <p:nvPr/>
            </p:nvSpPr>
            <p:spPr>
              <a:xfrm flipH="false" flipV="false" rot="0">
                <a:off x="0" y="0"/>
                <a:ext cx="660400" cy="279400"/>
              </a:xfrm>
              <a:custGeom>
                <a:avLst/>
                <a:gdLst/>
                <a:ahLst/>
                <a:cxnLst/>
                <a:rect r="r" b="b" t="t" l="l"/>
                <a:pathLst>
                  <a:path h="279400" w="660400">
                    <a:moveTo>
                      <a:pt x="0" y="0"/>
                    </a:moveTo>
                    <a:lnTo>
                      <a:pt x="660400" y="0"/>
                    </a:lnTo>
                    <a:lnTo>
                      <a:pt x="660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3" id="133"/>
              <p:cNvSpPr txBox="true"/>
              <p:nvPr/>
            </p:nvSpPr>
            <p:spPr>
              <a:xfrm>
                <a:off x="0" y="-38100"/>
                <a:ext cx="660400" cy="317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34" id="134"/>
            <p:cNvGrpSpPr/>
            <p:nvPr/>
          </p:nvGrpSpPr>
          <p:grpSpPr>
            <a:xfrm rot="0">
              <a:off x="0" y="1727200"/>
              <a:ext cx="660400" cy="279400"/>
              <a:chOff x="0" y="0"/>
              <a:chExt cx="660400" cy="279400"/>
            </a:xfrm>
          </p:grpSpPr>
          <p:sp>
            <p:nvSpPr>
              <p:cNvPr name="Freeform 135" id="135"/>
              <p:cNvSpPr/>
              <p:nvPr/>
            </p:nvSpPr>
            <p:spPr>
              <a:xfrm flipH="false" flipV="false" rot="0">
                <a:off x="0" y="0"/>
                <a:ext cx="660400" cy="279400"/>
              </a:xfrm>
              <a:custGeom>
                <a:avLst/>
                <a:gdLst/>
                <a:ahLst/>
                <a:cxnLst/>
                <a:rect r="r" b="b" t="t" l="l"/>
                <a:pathLst>
                  <a:path h="279400" w="660400">
                    <a:moveTo>
                      <a:pt x="0" y="0"/>
                    </a:moveTo>
                    <a:lnTo>
                      <a:pt x="660400" y="0"/>
                    </a:lnTo>
                    <a:lnTo>
                      <a:pt x="660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6" id="136"/>
              <p:cNvSpPr txBox="true"/>
              <p:nvPr/>
            </p:nvSpPr>
            <p:spPr>
              <a:xfrm>
                <a:off x="0" y="-38100"/>
                <a:ext cx="660400" cy="317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37" id="137"/>
            <p:cNvGrpSpPr/>
            <p:nvPr/>
          </p:nvGrpSpPr>
          <p:grpSpPr>
            <a:xfrm rot="0">
              <a:off x="889000" y="1727200"/>
              <a:ext cx="660400" cy="279400"/>
              <a:chOff x="0" y="0"/>
              <a:chExt cx="660400" cy="279400"/>
            </a:xfrm>
          </p:grpSpPr>
          <p:sp>
            <p:nvSpPr>
              <p:cNvPr name="Freeform 138" id="138"/>
              <p:cNvSpPr/>
              <p:nvPr/>
            </p:nvSpPr>
            <p:spPr>
              <a:xfrm flipH="false" flipV="false" rot="0">
                <a:off x="0" y="0"/>
                <a:ext cx="660400" cy="279400"/>
              </a:xfrm>
              <a:custGeom>
                <a:avLst/>
                <a:gdLst/>
                <a:ahLst/>
                <a:cxnLst/>
                <a:rect r="r" b="b" t="t" l="l"/>
                <a:pathLst>
                  <a:path h="279400" w="660400">
                    <a:moveTo>
                      <a:pt x="0" y="0"/>
                    </a:moveTo>
                    <a:lnTo>
                      <a:pt x="660400" y="0"/>
                    </a:lnTo>
                    <a:lnTo>
                      <a:pt x="660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9" id="139"/>
              <p:cNvSpPr txBox="true"/>
              <p:nvPr/>
            </p:nvSpPr>
            <p:spPr>
              <a:xfrm>
                <a:off x="0" y="-38100"/>
                <a:ext cx="660400" cy="317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40" id="140"/>
            <p:cNvGrpSpPr/>
            <p:nvPr/>
          </p:nvGrpSpPr>
          <p:grpSpPr>
            <a:xfrm rot="0">
              <a:off x="1778000" y="1727200"/>
              <a:ext cx="660400" cy="279400"/>
              <a:chOff x="0" y="0"/>
              <a:chExt cx="660400" cy="279400"/>
            </a:xfrm>
          </p:grpSpPr>
          <p:sp>
            <p:nvSpPr>
              <p:cNvPr name="Freeform 141" id="141"/>
              <p:cNvSpPr/>
              <p:nvPr/>
            </p:nvSpPr>
            <p:spPr>
              <a:xfrm flipH="false" flipV="false" rot="0">
                <a:off x="0" y="0"/>
                <a:ext cx="660400" cy="279400"/>
              </a:xfrm>
              <a:custGeom>
                <a:avLst/>
                <a:gdLst/>
                <a:ahLst/>
                <a:cxnLst/>
                <a:rect r="r" b="b" t="t" l="l"/>
                <a:pathLst>
                  <a:path h="279400" w="660400">
                    <a:moveTo>
                      <a:pt x="0" y="0"/>
                    </a:moveTo>
                    <a:lnTo>
                      <a:pt x="660400" y="0"/>
                    </a:lnTo>
                    <a:lnTo>
                      <a:pt x="660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2" id="142"/>
              <p:cNvSpPr txBox="true"/>
              <p:nvPr/>
            </p:nvSpPr>
            <p:spPr>
              <a:xfrm>
                <a:off x="0" y="-38100"/>
                <a:ext cx="660400" cy="317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43" id="143"/>
            <p:cNvGrpSpPr/>
            <p:nvPr/>
          </p:nvGrpSpPr>
          <p:grpSpPr>
            <a:xfrm rot="0">
              <a:off x="2667000" y="1727200"/>
              <a:ext cx="660400" cy="279400"/>
              <a:chOff x="0" y="0"/>
              <a:chExt cx="660400" cy="279400"/>
            </a:xfrm>
          </p:grpSpPr>
          <p:sp>
            <p:nvSpPr>
              <p:cNvPr name="Freeform 144" id="144"/>
              <p:cNvSpPr/>
              <p:nvPr/>
            </p:nvSpPr>
            <p:spPr>
              <a:xfrm flipH="false" flipV="false" rot="0">
                <a:off x="0" y="0"/>
                <a:ext cx="660400" cy="279400"/>
              </a:xfrm>
              <a:custGeom>
                <a:avLst/>
                <a:gdLst/>
                <a:ahLst/>
                <a:cxnLst/>
                <a:rect r="r" b="b" t="t" l="l"/>
                <a:pathLst>
                  <a:path h="279400" w="660400">
                    <a:moveTo>
                      <a:pt x="0" y="0"/>
                    </a:moveTo>
                    <a:lnTo>
                      <a:pt x="660400" y="0"/>
                    </a:lnTo>
                    <a:lnTo>
                      <a:pt x="660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5" id="145"/>
              <p:cNvSpPr txBox="true"/>
              <p:nvPr/>
            </p:nvSpPr>
            <p:spPr>
              <a:xfrm>
                <a:off x="0" y="-38100"/>
                <a:ext cx="660400" cy="317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46" id="146"/>
            <p:cNvGrpSpPr/>
            <p:nvPr/>
          </p:nvGrpSpPr>
          <p:grpSpPr>
            <a:xfrm rot="0">
              <a:off x="3556000" y="1727200"/>
              <a:ext cx="660400" cy="279400"/>
              <a:chOff x="0" y="0"/>
              <a:chExt cx="660400" cy="279400"/>
            </a:xfrm>
          </p:grpSpPr>
          <p:sp>
            <p:nvSpPr>
              <p:cNvPr name="Freeform 147" id="147"/>
              <p:cNvSpPr/>
              <p:nvPr/>
            </p:nvSpPr>
            <p:spPr>
              <a:xfrm flipH="false" flipV="false" rot="0">
                <a:off x="0" y="0"/>
                <a:ext cx="660400" cy="279400"/>
              </a:xfrm>
              <a:custGeom>
                <a:avLst/>
                <a:gdLst/>
                <a:ahLst/>
                <a:cxnLst/>
                <a:rect r="r" b="b" t="t" l="l"/>
                <a:pathLst>
                  <a:path h="279400" w="660400">
                    <a:moveTo>
                      <a:pt x="0" y="0"/>
                    </a:moveTo>
                    <a:lnTo>
                      <a:pt x="660400" y="0"/>
                    </a:lnTo>
                    <a:lnTo>
                      <a:pt x="660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8" id="148"/>
              <p:cNvSpPr txBox="true"/>
              <p:nvPr/>
            </p:nvSpPr>
            <p:spPr>
              <a:xfrm>
                <a:off x="0" y="-38100"/>
                <a:ext cx="660400" cy="317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49" id="149"/>
            <p:cNvGrpSpPr/>
            <p:nvPr/>
          </p:nvGrpSpPr>
          <p:grpSpPr>
            <a:xfrm rot="0">
              <a:off x="4445000" y="1727200"/>
              <a:ext cx="660400" cy="279400"/>
              <a:chOff x="0" y="0"/>
              <a:chExt cx="660400" cy="279400"/>
            </a:xfrm>
          </p:grpSpPr>
          <p:sp>
            <p:nvSpPr>
              <p:cNvPr name="Freeform 150" id="150"/>
              <p:cNvSpPr/>
              <p:nvPr/>
            </p:nvSpPr>
            <p:spPr>
              <a:xfrm flipH="false" flipV="false" rot="0">
                <a:off x="0" y="0"/>
                <a:ext cx="660400" cy="279400"/>
              </a:xfrm>
              <a:custGeom>
                <a:avLst/>
                <a:gdLst/>
                <a:ahLst/>
                <a:cxnLst/>
                <a:rect r="r" b="b" t="t" l="l"/>
                <a:pathLst>
                  <a:path h="279400" w="660400">
                    <a:moveTo>
                      <a:pt x="0" y="0"/>
                    </a:moveTo>
                    <a:lnTo>
                      <a:pt x="660400" y="0"/>
                    </a:lnTo>
                    <a:lnTo>
                      <a:pt x="660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1" id="151"/>
              <p:cNvSpPr txBox="true"/>
              <p:nvPr/>
            </p:nvSpPr>
            <p:spPr>
              <a:xfrm>
                <a:off x="0" y="-38100"/>
                <a:ext cx="660400" cy="317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52" id="152"/>
            <p:cNvGrpSpPr/>
            <p:nvPr/>
          </p:nvGrpSpPr>
          <p:grpSpPr>
            <a:xfrm rot="0">
              <a:off x="5334000" y="1727200"/>
              <a:ext cx="660400" cy="279400"/>
              <a:chOff x="0" y="0"/>
              <a:chExt cx="660400" cy="279400"/>
            </a:xfrm>
          </p:grpSpPr>
          <p:sp>
            <p:nvSpPr>
              <p:cNvPr name="Freeform 153" id="153"/>
              <p:cNvSpPr/>
              <p:nvPr/>
            </p:nvSpPr>
            <p:spPr>
              <a:xfrm flipH="false" flipV="false" rot="0">
                <a:off x="0" y="0"/>
                <a:ext cx="660400" cy="279400"/>
              </a:xfrm>
              <a:custGeom>
                <a:avLst/>
                <a:gdLst/>
                <a:ahLst/>
                <a:cxnLst/>
                <a:rect r="r" b="b" t="t" l="l"/>
                <a:pathLst>
                  <a:path h="279400" w="660400">
                    <a:moveTo>
                      <a:pt x="0" y="0"/>
                    </a:moveTo>
                    <a:lnTo>
                      <a:pt x="660400" y="0"/>
                    </a:lnTo>
                    <a:lnTo>
                      <a:pt x="660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4" id="154"/>
              <p:cNvSpPr txBox="true"/>
              <p:nvPr/>
            </p:nvSpPr>
            <p:spPr>
              <a:xfrm>
                <a:off x="0" y="-38100"/>
                <a:ext cx="660400" cy="317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55" id="155"/>
            <p:cNvGrpSpPr/>
            <p:nvPr/>
          </p:nvGrpSpPr>
          <p:grpSpPr>
            <a:xfrm rot="0">
              <a:off x="6223000" y="1727200"/>
              <a:ext cx="660400" cy="279400"/>
              <a:chOff x="0" y="0"/>
              <a:chExt cx="660400" cy="279400"/>
            </a:xfrm>
          </p:grpSpPr>
          <p:sp>
            <p:nvSpPr>
              <p:cNvPr name="Freeform 156" id="156"/>
              <p:cNvSpPr/>
              <p:nvPr/>
            </p:nvSpPr>
            <p:spPr>
              <a:xfrm flipH="false" flipV="false" rot="0">
                <a:off x="0" y="0"/>
                <a:ext cx="660400" cy="279400"/>
              </a:xfrm>
              <a:custGeom>
                <a:avLst/>
                <a:gdLst/>
                <a:ahLst/>
                <a:cxnLst/>
                <a:rect r="r" b="b" t="t" l="l"/>
                <a:pathLst>
                  <a:path h="279400" w="660400">
                    <a:moveTo>
                      <a:pt x="0" y="0"/>
                    </a:moveTo>
                    <a:lnTo>
                      <a:pt x="660400" y="0"/>
                    </a:lnTo>
                    <a:lnTo>
                      <a:pt x="660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solidFill>
                <a:srgbClr val="EF6A5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7" id="157"/>
              <p:cNvSpPr txBox="true"/>
              <p:nvPr/>
            </p:nvSpPr>
            <p:spPr>
              <a:xfrm>
                <a:off x="0" y="-38100"/>
                <a:ext cx="660400" cy="317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58" id="158"/>
            <p:cNvGrpSpPr/>
            <p:nvPr/>
          </p:nvGrpSpPr>
          <p:grpSpPr>
            <a:xfrm rot="0">
              <a:off x="7112000" y="1727200"/>
              <a:ext cx="660400" cy="279400"/>
              <a:chOff x="0" y="0"/>
              <a:chExt cx="660400" cy="279400"/>
            </a:xfrm>
          </p:grpSpPr>
          <p:sp>
            <p:nvSpPr>
              <p:cNvPr name="Freeform 159" id="159"/>
              <p:cNvSpPr/>
              <p:nvPr/>
            </p:nvSpPr>
            <p:spPr>
              <a:xfrm flipH="false" flipV="false" rot="0">
                <a:off x="0" y="0"/>
                <a:ext cx="660400" cy="279400"/>
              </a:xfrm>
              <a:custGeom>
                <a:avLst/>
                <a:gdLst/>
                <a:ahLst/>
                <a:cxnLst/>
                <a:rect r="r" b="b" t="t" l="l"/>
                <a:pathLst>
                  <a:path h="279400" w="660400">
                    <a:moveTo>
                      <a:pt x="0" y="0"/>
                    </a:moveTo>
                    <a:lnTo>
                      <a:pt x="660400" y="0"/>
                    </a:lnTo>
                    <a:lnTo>
                      <a:pt x="660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0" id="160"/>
              <p:cNvSpPr txBox="true"/>
              <p:nvPr/>
            </p:nvSpPr>
            <p:spPr>
              <a:xfrm>
                <a:off x="0" y="-38100"/>
                <a:ext cx="660400" cy="317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61" id="161"/>
            <p:cNvGrpSpPr/>
            <p:nvPr/>
          </p:nvGrpSpPr>
          <p:grpSpPr>
            <a:xfrm rot="0">
              <a:off x="8001000" y="1727200"/>
              <a:ext cx="660400" cy="279400"/>
              <a:chOff x="0" y="0"/>
              <a:chExt cx="660400" cy="279400"/>
            </a:xfrm>
          </p:grpSpPr>
          <p:sp>
            <p:nvSpPr>
              <p:cNvPr name="Freeform 162" id="162"/>
              <p:cNvSpPr/>
              <p:nvPr/>
            </p:nvSpPr>
            <p:spPr>
              <a:xfrm flipH="false" flipV="false" rot="0">
                <a:off x="0" y="0"/>
                <a:ext cx="660400" cy="279400"/>
              </a:xfrm>
              <a:custGeom>
                <a:avLst/>
                <a:gdLst/>
                <a:ahLst/>
                <a:cxnLst/>
                <a:rect r="r" b="b" t="t" l="l"/>
                <a:pathLst>
                  <a:path h="279400" w="660400">
                    <a:moveTo>
                      <a:pt x="0" y="0"/>
                    </a:moveTo>
                    <a:lnTo>
                      <a:pt x="660400" y="0"/>
                    </a:lnTo>
                    <a:lnTo>
                      <a:pt x="660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3" id="163"/>
              <p:cNvSpPr txBox="true"/>
              <p:nvPr/>
            </p:nvSpPr>
            <p:spPr>
              <a:xfrm>
                <a:off x="0" y="-38100"/>
                <a:ext cx="660400" cy="317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64" id="164"/>
            <p:cNvGrpSpPr/>
            <p:nvPr/>
          </p:nvGrpSpPr>
          <p:grpSpPr>
            <a:xfrm rot="0">
              <a:off x="0" y="2159000"/>
              <a:ext cx="660400" cy="279400"/>
              <a:chOff x="0" y="0"/>
              <a:chExt cx="660400" cy="279400"/>
            </a:xfrm>
          </p:grpSpPr>
          <p:sp>
            <p:nvSpPr>
              <p:cNvPr name="Freeform 165" id="165"/>
              <p:cNvSpPr/>
              <p:nvPr/>
            </p:nvSpPr>
            <p:spPr>
              <a:xfrm flipH="false" flipV="false" rot="0">
                <a:off x="0" y="0"/>
                <a:ext cx="660400" cy="279400"/>
              </a:xfrm>
              <a:custGeom>
                <a:avLst/>
                <a:gdLst/>
                <a:ahLst/>
                <a:cxnLst/>
                <a:rect r="r" b="b" t="t" l="l"/>
                <a:pathLst>
                  <a:path h="279400" w="660400">
                    <a:moveTo>
                      <a:pt x="0" y="0"/>
                    </a:moveTo>
                    <a:lnTo>
                      <a:pt x="660400" y="0"/>
                    </a:lnTo>
                    <a:lnTo>
                      <a:pt x="660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6" id="166"/>
              <p:cNvSpPr txBox="true"/>
              <p:nvPr/>
            </p:nvSpPr>
            <p:spPr>
              <a:xfrm>
                <a:off x="0" y="-38100"/>
                <a:ext cx="660400" cy="317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67" id="167"/>
            <p:cNvGrpSpPr/>
            <p:nvPr/>
          </p:nvGrpSpPr>
          <p:grpSpPr>
            <a:xfrm rot="0">
              <a:off x="889000" y="2159000"/>
              <a:ext cx="660400" cy="279400"/>
              <a:chOff x="0" y="0"/>
              <a:chExt cx="660400" cy="279400"/>
            </a:xfrm>
          </p:grpSpPr>
          <p:sp>
            <p:nvSpPr>
              <p:cNvPr name="Freeform 168" id="168"/>
              <p:cNvSpPr/>
              <p:nvPr/>
            </p:nvSpPr>
            <p:spPr>
              <a:xfrm flipH="false" flipV="false" rot="0">
                <a:off x="0" y="0"/>
                <a:ext cx="660400" cy="279400"/>
              </a:xfrm>
              <a:custGeom>
                <a:avLst/>
                <a:gdLst/>
                <a:ahLst/>
                <a:cxnLst/>
                <a:rect r="r" b="b" t="t" l="l"/>
                <a:pathLst>
                  <a:path h="279400" w="660400">
                    <a:moveTo>
                      <a:pt x="0" y="0"/>
                    </a:moveTo>
                    <a:lnTo>
                      <a:pt x="660400" y="0"/>
                    </a:lnTo>
                    <a:lnTo>
                      <a:pt x="660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9" id="169"/>
              <p:cNvSpPr txBox="true"/>
              <p:nvPr/>
            </p:nvSpPr>
            <p:spPr>
              <a:xfrm>
                <a:off x="0" y="-38100"/>
                <a:ext cx="660400" cy="317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70" id="170"/>
            <p:cNvGrpSpPr/>
            <p:nvPr/>
          </p:nvGrpSpPr>
          <p:grpSpPr>
            <a:xfrm rot="0">
              <a:off x="1778000" y="2159000"/>
              <a:ext cx="660400" cy="279400"/>
              <a:chOff x="0" y="0"/>
              <a:chExt cx="660400" cy="279400"/>
            </a:xfrm>
          </p:grpSpPr>
          <p:sp>
            <p:nvSpPr>
              <p:cNvPr name="Freeform 171" id="171"/>
              <p:cNvSpPr/>
              <p:nvPr/>
            </p:nvSpPr>
            <p:spPr>
              <a:xfrm flipH="false" flipV="false" rot="0">
                <a:off x="0" y="0"/>
                <a:ext cx="660400" cy="279400"/>
              </a:xfrm>
              <a:custGeom>
                <a:avLst/>
                <a:gdLst/>
                <a:ahLst/>
                <a:cxnLst/>
                <a:rect r="r" b="b" t="t" l="l"/>
                <a:pathLst>
                  <a:path h="279400" w="660400">
                    <a:moveTo>
                      <a:pt x="0" y="0"/>
                    </a:moveTo>
                    <a:lnTo>
                      <a:pt x="660400" y="0"/>
                    </a:lnTo>
                    <a:lnTo>
                      <a:pt x="660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2" id="172"/>
              <p:cNvSpPr txBox="true"/>
              <p:nvPr/>
            </p:nvSpPr>
            <p:spPr>
              <a:xfrm>
                <a:off x="0" y="-38100"/>
                <a:ext cx="660400" cy="317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73" id="173"/>
            <p:cNvGrpSpPr/>
            <p:nvPr/>
          </p:nvGrpSpPr>
          <p:grpSpPr>
            <a:xfrm rot="0">
              <a:off x="2667000" y="2159000"/>
              <a:ext cx="660400" cy="279400"/>
              <a:chOff x="0" y="0"/>
              <a:chExt cx="660400" cy="279400"/>
            </a:xfrm>
          </p:grpSpPr>
          <p:sp>
            <p:nvSpPr>
              <p:cNvPr name="Freeform 174" id="174"/>
              <p:cNvSpPr/>
              <p:nvPr/>
            </p:nvSpPr>
            <p:spPr>
              <a:xfrm flipH="false" flipV="false" rot="0">
                <a:off x="0" y="0"/>
                <a:ext cx="660400" cy="279400"/>
              </a:xfrm>
              <a:custGeom>
                <a:avLst/>
                <a:gdLst/>
                <a:ahLst/>
                <a:cxnLst/>
                <a:rect r="r" b="b" t="t" l="l"/>
                <a:pathLst>
                  <a:path h="279400" w="660400">
                    <a:moveTo>
                      <a:pt x="0" y="0"/>
                    </a:moveTo>
                    <a:lnTo>
                      <a:pt x="660400" y="0"/>
                    </a:lnTo>
                    <a:lnTo>
                      <a:pt x="660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5" id="175"/>
              <p:cNvSpPr txBox="true"/>
              <p:nvPr/>
            </p:nvSpPr>
            <p:spPr>
              <a:xfrm>
                <a:off x="0" y="-38100"/>
                <a:ext cx="660400" cy="317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76" id="176"/>
            <p:cNvGrpSpPr/>
            <p:nvPr/>
          </p:nvGrpSpPr>
          <p:grpSpPr>
            <a:xfrm rot="0">
              <a:off x="3556000" y="2159000"/>
              <a:ext cx="660400" cy="279400"/>
              <a:chOff x="0" y="0"/>
              <a:chExt cx="660400" cy="279400"/>
            </a:xfrm>
          </p:grpSpPr>
          <p:sp>
            <p:nvSpPr>
              <p:cNvPr name="Freeform 177" id="177"/>
              <p:cNvSpPr/>
              <p:nvPr/>
            </p:nvSpPr>
            <p:spPr>
              <a:xfrm flipH="false" flipV="false" rot="0">
                <a:off x="0" y="0"/>
                <a:ext cx="660400" cy="279400"/>
              </a:xfrm>
              <a:custGeom>
                <a:avLst/>
                <a:gdLst/>
                <a:ahLst/>
                <a:cxnLst/>
                <a:rect r="r" b="b" t="t" l="l"/>
                <a:pathLst>
                  <a:path h="279400" w="660400">
                    <a:moveTo>
                      <a:pt x="0" y="0"/>
                    </a:moveTo>
                    <a:lnTo>
                      <a:pt x="660400" y="0"/>
                    </a:lnTo>
                    <a:lnTo>
                      <a:pt x="660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8" id="178"/>
              <p:cNvSpPr txBox="true"/>
              <p:nvPr/>
            </p:nvSpPr>
            <p:spPr>
              <a:xfrm>
                <a:off x="0" y="-38100"/>
                <a:ext cx="660400" cy="317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79" id="179"/>
            <p:cNvGrpSpPr/>
            <p:nvPr/>
          </p:nvGrpSpPr>
          <p:grpSpPr>
            <a:xfrm rot="0">
              <a:off x="4445000" y="2159000"/>
              <a:ext cx="660400" cy="279400"/>
              <a:chOff x="0" y="0"/>
              <a:chExt cx="660400" cy="279400"/>
            </a:xfrm>
          </p:grpSpPr>
          <p:sp>
            <p:nvSpPr>
              <p:cNvPr name="Freeform 180" id="180"/>
              <p:cNvSpPr/>
              <p:nvPr/>
            </p:nvSpPr>
            <p:spPr>
              <a:xfrm flipH="false" flipV="false" rot="0">
                <a:off x="0" y="0"/>
                <a:ext cx="660400" cy="279400"/>
              </a:xfrm>
              <a:custGeom>
                <a:avLst/>
                <a:gdLst/>
                <a:ahLst/>
                <a:cxnLst/>
                <a:rect r="r" b="b" t="t" l="l"/>
                <a:pathLst>
                  <a:path h="279400" w="660400">
                    <a:moveTo>
                      <a:pt x="0" y="0"/>
                    </a:moveTo>
                    <a:lnTo>
                      <a:pt x="660400" y="0"/>
                    </a:lnTo>
                    <a:lnTo>
                      <a:pt x="660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1" id="181"/>
              <p:cNvSpPr txBox="true"/>
              <p:nvPr/>
            </p:nvSpPr>
            <p:spPr>
              <a:xfrm>
                <a:off x="0" y="-38100"/>
                <a:ext cx="660400" cy="317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82" id="182"/>
            <p:cNvGrpSpPr/>
            <p:nvPr/>
          </p:nvGrpSpPr>
          <p:grpSpPr>
            <a:xfrm rot="0">
              <a:off x="5334000" y="2159000"/>
              <a:ext cx="660400" cy="279400"/>
              <a:chOff x="0" y="0"/>
              <a:chExt cx="660400" cy="279400"/>
            </a:xfrm>
          </p:grpSpPr>
          <p:sp>
            <p:nvSpPr>
              <p:cNvPr name="Freeform 183" id="183"/>
              <p:cNvSpPr/>
              <p:nvPr/>
            </p:nvSpPr>
            <p:spPr>
              <a:xfrm flipH="false" flipV="false" rot="0">
                <a:off x="0" y="0"/>
                <a:ext cx="660400" cy="279400"/>
              </a:xfrm>
              <a:custGeom>
                <a:avLst/>
                <a:gdLst/>
                <a:ahLst/>
                <a:cxnLst/>
                <a:rect r="r" b="b" t="t" l="l"/>
                <a:pathLst>
                  <a:path h="279400" w="660400">
                    <a:moveTo>
                      <a:pt x="0" y="0"/>
                    </a:moveTo>
                    <a:lnTo>
                      <a:pt x="660400" y="0"/>
                    </a:lnTo>
                    <a:lnTo>
                      <a:pt x="660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4" id="184"/>
              <p:cNvSpPr txBox="true"/>
              <p:nvPr/>
            </p:nvSpPr>
            <p:spPr>
              <a:xfrm>
                <a:off x="0" y="-38100"/>
                <a:ext cx="660400" cy="317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85" id="185"/>
            <p:cNvGrpSpPr/>
            <p:nvPr/>
          </p:nvGrpSpPr>
          <p:grpSpPr>
            <a:xfrm rot="0">
              <a:off x="6223000" y="2159000"/>
              <a:ext cx="660400" cy="279400"/>
              <a:chOff x="0" y="0"/>
              <a:chExt cx="660400" cy="279400"/>
            </a:xfrm>
          </p:grpSpPr>
          <p:sp>
            <p:nvSpPr>
              <p:cNvPr name="Freeform 186" id="186"/>
              <p:cNvSpPr/>
              <p:nvPr/>
            </p:nvSpPr>
            <p:spPr>
              <a:xfrm flipH="false" flipV="false" rot="0">
                <a:off x="0" y="0"/>
                <a:ext cx="660400" cy="279400"/>
              </a:xfrm>
              <a:custGeom>
                <a:avLst/>
                <a:gdLst/>
                <a:ahLst/>
                <a:cxnLst/>
                <a:rect r="r" b="b" t="t" l="l"/>
                <a:pathLst>
                  <a:path h="279400" w="660400">
                    <a:moveTo>
                      <a:pt x="0" y="0"/>
                    </a:moveTo>
                    <a:lnTo>
                      <a:pt x="660400" y="0"/>
                    </a:lnTo>
                    <a:lnTo>
                      <a:pt x="660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7" id="187"/>
              <p:cNvSpPr txBox="true"/>
              <p:nvPr/>
            </p:nvSpPr>
            <p:spPr>
              <a:xfrm>
                <a:off x="0" y="-38100"/>
                <a:ext cx="660400" cy="317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88" id="188"/>
            <p:cNvGrpSpPr/>
            <p:nvPr/>
          </p:nvGrpSpPr>
          <p:grpSpPr>
            <a:xfrm rot="0">
              <a:off x="7112000" y="2159000"/>
              <a:ext cx="660400" cy="279400"/>
              <a:chOff x="0" y="0"/>
              <a:chExt cx="660400" cy="279400"/>
            </a:xfrm>
          </p:grpSpPr>
          <p:sp>
            <p:nvSpPr>
              <p:cNvPr name="Freeform 189" id="189"/>
              <p:cNvSpPr/>
              <p:nvPr/>
            </p:nvSpPr>
            <p:spPr>
              <a:xfrm flipH="false" flipV="false" rot="0">
                <a:off x="0" y="0"/>
                <a:ext cx="660400" cy="279400"/>
              </a:xfrm>
              <a:custGeom>
                <a:avLst/>
                <a:gdLst/>
                <a:ahLst/>
                <a:cxnLst/>
                <a:rect r="r" b="b" t="t" l="l"/>
                <a:pathLst>
                  <a:path h="279400" w="660400">
                    <a:moveTo>
                      <a:pt x="0" y="0"/>
                    </a:moveTo>
                    <a:lnTo>
                      <a:pt x="660400" y="0"/>
                    </a:lnTo>
                    <a:lnTo>
                      <a:pt x="660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0" id="190"/>
              <p:cNvSpPr txBox="true"/>
              <p:nvPr/>
            </p:nvSpPr>
            <p:spPr>
              <a:xfrm>
                <a:off x="0" y="-38100"/>
                <a:ext cx="660400" cy="317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91" id="191"/>
            <p:cNvGrpSpPr/>
            <p:nvPr/>
          </p:nvGrpSpPr>
          <p:grpSpPr>
            <a:xfrm rot="0">
              <a:off x="8001000" y="2159000"/>
              <a:ext cx="660400" cy="279400"/>
              <a:chOff x="0" y="0"/>
              <a:chExt cx="660400" cy="279400"/>
            </a:xfrm>
          </p:grpSpPr>
          <p:sp>
            <p:nvSpPr>
              <p:cNvPr name="Freeform 192" id="192"/>
              <p:cNvSpPr/>
              <p:nvPr/>
            </p:nvSpPr>
            <p:spPr>
              <a:xfrm flipH="false" flipV="false" rot="0">
                <a:off x="0" y="0"/>
                <a:ext cx="660400" cy="279400"/>
              </a:xfrm>
              <a:custGeom>
                <a:avLst/>
                <a:gdLst/>
                <a:ahLst/>
                <a:cxnLst/>
                <a:rect r="r" b="b" t="t" l="l"/>
                <a:pathLst>
                  <a:path h="279400" w="660400">
                    <a:moveTo>
                      <a:pt x="0" y="0"/>
                    </a:moveTo>
                    <a:lnTo>
                      <a:pt x="660400" y="0"/>
                    </a:lnTo>
                    <a:lnTo>
                      <a:pt x="660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3" id="193"/>
              <p:cNvSpPr txBox="true"/>
              <p:nvPr/>
            </p:nvSpPr>
            <p:spPr>
              <a:xfrm>
                <a:off x="0" y="-38100"/>
                <a:ext cx="660400" cy="317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94" id="194"/>
            <p:cNvGrpSpPr/>
            <p:nvPr/>
          </p:nvGrpSpPr>
          <p:grpSpPr>
            <a:xfrm rot="0">
              <a:off x="0" y="2590800"/>
              <a:ext cx="660400" cy="279400"/>
              <a:chOff x="0" y="0"/>
              <a:chExt cx="660400" cy="279400"/>
            </a:xfrm>
          </p:grpSpPr>
          <p:sp>
            <p:nvSpPr>
              <p:cNvPr name="Freeform 195" id="195"/>
              <p:cNvSpPr/>
              <p:nvPr/>
            </p:nvSpPr>
            <p:spPr>
              <a:xfrm flipH="false" flipV="false" rot="0">
                <a:off x="0" y="0"/>
                <a:ext cx="660400" cy="279400"/>
              </a:xfrm>
              <a:custGeom>
                <a:avLst/>
                <a:gdLst/>
                <a:ahLst/>
                <a:cxnLst/>
                <a:rect r="r" b="b" t="t" l="l"/>
                <a:pathLst>
                  <a:path h="279400" w="660400">
                    <a:moveTo>
                      <a:pt x="0" y="0"/>
                    </a:moveTo>
                    <a:lnTo>
                      <a:pt x="660400" y="0"/>
                    </a:lnTo>
                    <a:lnTo>
                      <a:pt x="660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6" id="196"/>
              <p:cNvSpPr txBox="true"/>
              <p:nvPr/>
            </p:nvSpPr>
            <p:spPr>
              <a:xfrm>
                <a:off x="0" y="-38100"/>
                <a:ext cx="660400" cy="317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97" id="197"/>
            <p:cNvGrpSpPr/>
            <p:nvPr/>
          </p:nvGrpSpPr>
          <p:grpSpPr>
            <a:xfrm rot="0">
              <a:off x="889000" y="2590800"/>
              <a:ext cx="660400" cy="279400"/>
              <a:chOff x="0" y="0"/>
              <a:chExt cx="660400" cy="279400"/>
            </a:xfrm>
          </p:grpSpPr>
          <p:sp>
            <p:nvSpPr>
              <p:cNvPr name="Freeform 198" id="198"/>
              <p:cNvSpPr/>
              <p:nvPr/>
            </p:nvSpPr>
            <p:spPr>
              <a:xfrm flipH="false" flipV="false" rot="0">
                <a:off x="0" y="0"/>
                <a:ext cx="660400" cy="279400"/>
              </a:xfrm>
              <a:custGeom>
                <a:avLst/>
                <a:gdLst/>
                <a:ahLst/>
                <a:cxnLst/>
                <a:rect r="r" b="b" t="t" l="l"/>
                <a:pathLst>
                  <a:path h="279400" w="660400">
                    <a:moveTo>
                      <a:pt x="0" y="0"/>
                    </a:moveTo>
                    <a:lnTo>
                      <a:pt x="660400" y="0"/>
                    </a:lnTo>
                    <a:lnTo>
                      <a:pt x="660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9" id="199"/>
              <p:cNvSpPr txBox="true"/>
              <p:nvPr/>
            </p:nvSpPr>
            <p:spPr>
              <a:xfrm>
                <a:off x="0" y="-38100"/>
                <a:ext cx="660400" cy="317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00" id="200"/>
            <p:cNvGrpSpPr/>
            <p:nvPr/>
          </p:nvGrpSpPr>
          <p:grpSpPr>
            <a:xfrm rot="0">
              <a:off x="1778000" y="2590800"/>
              <a:ext cx="660400" cy="279400"/>
              <a:chOff x="0" y="0"/>
              <a:chExt cx="660400" cy="279400"/>
            </a:xfrm>
          </p:grpSpPr>
          <p:sp>
            <p:nvSpPr>
              <p:cNvPr name="Freeform 201" id="201"/>
              <p:cNvSpPr/>
              <p:nvPr/>
            </p:nvSpPr>
            <p:spPr>
              <a:xfrm flipH="false" flipV="false" rot="0">
                <a:off x="0" y="0"/>
                <a:ext cx="660400" cy="279400"/>
              </a:xfrm>
              <a:custGeom>
                <a:avLst/>
                <a:gdLst/>
                <a:ahLst/>
                <a:cxnLst/>
                <a:rect r="r" b="b" t="t" l="l"/>
                <a:pathLst>
                  <a:path h="279400" w="660400">
                    <a:moveTo>
                      <a:pt x="0" y="0"/>
                    </a:moveTo>
                    <a:lnTo>
                      <a:pt x="660400" y="0"/>
                    </a:lnTo>
                    <a:lnTo>
                      <a:pt x="660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solidFill>
                <a:srgbClr val="EF6A5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2" id="202"/>
              <p:cNvSpPr txBox="true"/>
              <p:nvPr/>
            </p:nvSpPr>
            <p:spPr>
              <a:xfrm>
                <a:off x="0" y="-38100"/>
                <a:ext cx="660400" cy="317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03" id="203"/>
            <p:cNvGrpSpPr/>
            <p:nvPr/>
          </p:nvGrpSpPr>
          <p:grpSpPr>
            <a:xfrm rot="0">
              <a:off x="2667000" y="2590800"/>
              <a:ext cx="660400" cy="279400"/>
              <a:chOff x="0" y="0"/>
              <a:chExt cx="660400" cy="279400"/>
            </a:xfrm>
          </p:grpSpPr>
          <p:sp>
            <p:nvSpPr>
              <p:cNvPr name="Freeform 204" id="204"/>
              <p:cNvSpPr/>
              <p:nvPr/>
            </p:nvSpPr>
            <p:spPr>
              <a:xfrm flipH="false" flipV="false" rot="0">
                <a:off x="0" y="0"/>
                <a:ext cx="660400" cy="279400"/>
              </a:xfrm>
              <a:custGeom>
                <a:avLst/>
                <a:gdLst/>
                <a:ahLst/>
                <a:cxnLst/>
                <a:rect r="r" b="b" t="t" l="l"/>
                <a:pathLst>
                  <a:path h="279400" w="660400">
                    <a:moveTo>
                      <a:pt x="0" y="0"/>
                    </a:moveTo>
                    <a:lnTo>
                      <a:pt x="660400" y="0"/>
                    </a:lnTo>
                    <a:lnTo>
                      <a:pt x="660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5" id="205"/>
              <p:cNvSpPr txBox="true"/>
              <p:nvPr/>
            </p:nvSpPr>
            <p:spPr>
              <a:xfrm>
                <a:off x="0" y="-38100"/>
                <a:ext cx="660400" cy="317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06" id="206"/>
            <p:cNvGrpSpPr/>
            <p:nvPr/>
          </p:nvGrpSpPr>
          <p:grpSpPr>
            <a:xfrm rot="0">
              <a:off x="3556000" y="2590800"/>
              <a:ext cx="660400" cy="279400"/>
              <a:chOff x="0" y="0"/>
              <a:chExt cx="660400" cy="279400"/>
            </a:xfrm>
          </p:grpSpPr>
          <p:sp>
            <p:nvSpPr>
              <p:cNvPr name="Freeform 207" id="207"/>
              <p:cNvSpPr/>
              <p:nvPr/>
            </p:nvSpPr>
            <p:spPr>
              <a:xfrm flipH="false" flipV="false" rot="0">
                <a:off x="0" y="0"/>
                <a:ext cx="660400" cy="279400"/>
              </a:xfrm>
              <a:custGeom>
                <a:avLst/>
                <a:gdLst/>
                <a:ahLst/>
                <a:cxnLst/>
                <a:rect r="r" b="b" t="t" l="l"/>
                <a:pathLst>
                  <a:path h="279400" w="660400">
                    <a:moveTo>
                      <a:pt x="0" y="0"/>
                    </a:moveTo>
                    <a:lnTo>
                      <a:pt x="660400" y="0"/>
                    </a:lnTo>
                    <a:lnTo>
                      <a:pt x="660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8" id="208"/>
              <p:cNvSpPr txBox="true"/>
              <p:nvPr/>
            </p:nvSpPr>
            <p:spPr>
              <a:xfrm>
                <a:off x="0" y="-38100"/>
                <a:ext cx="660400" cy="317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09" id="209"/>
            <p:cNvGrpSpPr/>
            <p:nvPr/>
          </p:nvGrpSpPr>
          <p:grpSpPr>
            <a:xfrm rot="0">
              <a:off x="4445000" y="2590800"/>
              <a:ext cx="660400" cy="279400"/>
              <a:chOff x="0" y="0"/>
              <a:chExt cx="660400" cy="279400"/>
            </a:xfrm>
          </p:grpSpPr>
          <p:sp>
            <p:nvSpPr>
              <p:cNvPr name="Freeform 210" id="210"/>
              <p:cNvSpPr/>
              <p:nvPr/>
            </p:nvSpPr>
            <p:spPr>
              <a:xfrm flipH="false" flipV="false" rot="0">
                <a:off x="0" y="0"/>
                <a:ext cx="660400" cy="279400"/>
              </a:xfrm>
              <a:custGeom>
                <a:avLst/>
                <a:gdLst/>
                <a:ahLst/>
                <a:cxnLst/>
                <a:rect r="r" b="b" t="t" l="l"/>
                <a:pathLst>
                  <a:path h="279400" w="660400">
                    <a:moveTo>
                      <a:pt x="0" y="0"/>
                    </a:moveTo>
                    <a:lnTo>
                      <a:pt x="660400" y="0"/>
                    </a:lnTo>
                    <a:lnTo>
                      <a:pt x="660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1" id="211"/>
              <p:cNvSpPr txBox="true"/>
              <p:nvPr/>
            </p:nvSpPr>
            <p:spPr>
              <a:xfrm>
                <a:off x="0" y="-38100"/>
                <a:ext cx="660400" cy="317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12" id="212"/>
            <p:cNvGrpSpPr/>
            <p:nvPr/>
          </p:nvGrpSpPr>
          <p:grpSpPr>
            <a:xfrm rot="0">
              <a:off x="5334000" y="2590800"/>
              <a:ext cx="660400" cy="279400"/>
              <a:chOff x="0" y="0"/>
              <a:chExt cx="660400" cy="279400"/>
            </a:xfrm>
          </p:grpSpPr>
          <p:sp>
            <p:nvSpPr>
              <p:cNvPr name="Freeform 213" id="213"/>
              <p:cNvSpPr/>
              <p:nvPr/>
            </p:nvSpPr>
            <p:spPr>
              <a:xfrm flipH="false" flipV="false" rot="0">
                <a:off x="0" y="0"/>
                <a:ext cx="660400" cy="279400"/>
              </a:xfrm>
              <a:custGeom>
                <a:avLst/>
                <a:gdLst/>
                <a:ahLst/>
                <a:cxnLst/>
                <a:rect r="r" b="b" t="t" l="l"/>
                <a:pathLst>
                  <a:path h="279400" w="660400">
                    <a:moveTo>
                      <a:pt x="0" y="0"/>
                    </a:moveTo>
                    <a:lnTo>
                      <a:pt x="660400" y="0"/>
                    </a:lnTo>
                    <a:lnTo>
                      <a:pt x="660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4" id="214"/>
              <p:cNvSpPr txBox="true"/>
              <p:nvPr/>
            </p:nvSpPr>
            <p:spPr>
              <a:xfrm>
                <a:off x="0" y="-38100"/>
                <a:ext cx="660400" cy="317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15" id="215"/>
            <p:cNvGrpSpPr/>
            <p:nvPr/>
          </p:nvGrpSpPr>
          <p:grpSpPr>
            <a:xfrm rot="0">
              <a:off x="6223000" y="2590800"/>
              <a:ext cx="660400" cy="279400"/>
              <a:chOff x="0" y="0"/>
              <a:chExt cx="660400" cy="279400"/>
            </a:xfrm>
          </p:grpSpPr>
          <p:sp>
            <p:nvSpPr>
              <p:cNvPr name="Freeform 216" id="216"/>
              <p:cNvSpPr/>
              <p:nvPr/>
            </p:nvSpPr>
            <p:spPr>
              <a:xfrm flipH="false" flipV="false" rot="0">
                <a:off x="0" y="0"/>
                <a:ext cx="660400" cy="279400"/>
              </a:xfrm>
              <a:custGeom>
                <a:avLst/>
                <a:gdLst/>
                <a:ahLst/>
                <a:cxnLst/>
                <a:rect r="r" b="b" t="t" l="l"/>
                <a:pathLst>
                  <a:path h="279400" w="660400">
                    <a:moveTo>
                      <a:pt x="0" y="0"/>
                    </a:moveTo>
                    <a:lnTo>
                      <a:pt x="660400" y="0"/>
                    </a:lnTo>
                    <a:lnTo>
                      <a:pt x="660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7" id="217"/>
              <p:cNvSpPr txBox="true"/>
              <p:nvPr/>
            </p:nvSpPr>
            <p:spPr>
              <a:xfrm>
                <a:off x="0" y="-38100"/>
                <a:ext cx="660400" cy="317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18" id="218"/>
            <p:cNvGrpSpPr/>
            <p:nvPr/>
          </p:nvGrpSpPr>
          <p:grpSpPr>
            <a:xfrm rot="0">
              <a:off x="7112000" y="2590800"/>
              <a:ext cx="660400" cy="279400"/>
              <a:chOff x="0" y="0"/>
              <a:chExt cx="660400" cy="279400"/>
            </a:xfrm>
          </p:grpSpPr>
          <p:sp>
            <p:nvSpPr>
              <p:cNvPr name="Freeform 219" id="219"/>
              <p:cNvSpPr/>
              <p:nvPr/>
            </p:nvSpPr>
            <p:spPr>
              <a:xfrm flipH="false" flipV="false" rot="0">
                <a:off x="0" y="0"/>
                <a:ext cx="660400" cy="279400"/>
              </a:xfrm>
              <a:custGeom>
                <a:avLst/>
                <a:gdLst/>
                <a:ahLst/>
                <a:cxnLst/>
                <a:rect r="r" b="b" t="t" l="l"/>
                <a:pathLst>
                  <a:path h="279400" w="660400">
                    <a:moveTo>
                      <a:pt x="0" y="0"/>
                    </a:moveTo>
                    <a:lnTo>
                      <a:pt x="660400" y="0"/>
                    </a:lnTo>
                    <a:lnTo>
                      <a:pt x="660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20" id="220"/>
              <p:cNvSpPr txBox="true"/>
              <p:nvPr/>
            </p:nvSpPr>
            <p:spPr>
              <a:xfrm>
                <a:off x="0" y="-38100"/>
                <a:ext cx="660400" cy="317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21" id="221"/>
            <p:cNvGrpSpPr/>
            <p:nvPr/>
          </p:nvGrpSpPr>
          <p:grpSpPr>
            <a:xfrm rot="0">
              <a:off x="8001000" y="2590800"/>
              <a:ext cx="660400" cy="279400"/>
              <a:chOff x="0" y="0"/>
              <a:chExt cx="660400" cy="279400"/>
            </a:xfrm>
          </p:grpSpPr>
          <p:sp>
            <p:nvSpPr>
              <p:cNvPr name="Freeform 222" id="222"/>
              <p:cNvSpPr/>
              <p:nvPr/>
            </p:nvSpPr>
            <p:spPr>
              <a:xfrm flipH="false" flipV="false" rot="0">
                <a:off x="0" y="0"/>
                <a:ext cx="660400" cy="279400"/>
              </a:xfrm>
              <a:custGeom>
                <a:avLst/>
                <a:gdLst/>
                <a:ahLst/>
                <a:cxnLst/>
                <a:rect r="r" b="b" t="t" l="l"/>
                <a:pathLst>
                  <a:path h="279400" w="660400">
                    <a:moveTo>
                      <a:pt x="0" y="0"/>
                    </a:moveTo>
                    <a:lnTo>
                      <a:pt x="660400" y="0"/>
                    </a:lnTo>
                    <a:lnTo>
                      <a:pt x="660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23" id="223"/>
              <p:cNvSpPr txBox="true"/>
              <p:nvPr/>
            </p:nvSpPr>
            <p:spPr>
              <a:xfrm>
                <a:off x="0" y="-38100"/>
                <a:ext cx="660400" cy="317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sp>
        <p:nvSpPr>
          <p:cNvPr name="TextBox 224" id="224"/>
          <p:cNvSpPr txBox="true"/>
          <p:nvPr/>
        </p:nvSpPr>
        <p:spPr>
          <a:xfrm rot="0">
            <a:off x="11144250" y="3762375"/>
            <a:ext cx="5905500" cy="42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475">
                <a:solidFill>
                  <a:srgbClr val="123534"/>
                </a:solidFill>
                <a:latin typeface="IBM Plex Mono"/>
                <a:ea typeface="IBM Plex Mono"/>
                <a:cs typeface="IBM Plex Mono"/>
                <a:sym typeface="IBM Plex Mono"/>
              </a:rPr>
              <a:t>0  0  0  1  0  0  0  0  1  0  0</a:t>
            </a:r>
          </a:p>
        </p:txBody>
      </p:sp>
      <p:sp>
        <p:nvSpPr>
          <p:cNvPr name="TextBox 225" id="225"/>
          <p:cNvSpPr txBox="true"/>
          <p:nvPr/>
        </p:nvSpPr>
        <p:spPr>
          <a:xfrm rot="0">
            <a:off x="11144250" y="4714875"/>
            <a:ext cx="542925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123534"/>
                </a:solidFill>
                <a:latin typeface="DM Sans"/>
                <a:ea typeface="DM Sans"/>
                <a:cs typeface="DM Sans"/>
                <a:sym typeface="DM Sans"/>
              </a:rPr>
              <a:t>Each row is mostly zero.</a:t>
            </a:r>
          </a:p>
        </p:txBody>
      </p:sp>
      <p:grpSp>
        <p:nvGrpSpPr>
          <p:cNvPr name="Group 226" id="226"/>
          <p:cNvGrpSpPr/>
          <p:nvPr/>
        </p:nvGrpSpPr>
        <p:grpSpPr>
          <a:xfrm rot="0">
            <a:off x="990600" y="9715500"/>
            <a:ext cx="16249650" cy="203835"/>
            <a:chOff x="0" y="0"/>
            <a:chExt cx="21666200" cy="271780"/>
          </a:xfrm>
        </p:grpSpPr>
        <p:sp>
          <p:nvSpPr>
            <p:cNvPr name="TextBox 227" id="227"/>
            <p:cNvSpPr txBox="true"/>
            <p:nvPr/>
          </p:nvSpPr>
          <p:spPr>
            <a:xfrm rot="0">
              <a:off x="0" y="-28575"/>
              <a:ext cx="10160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08">
                  <a:solidFill>
                    <a:srgbClr val="123534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BGG ARTISTS / EXPLORATORY ANALYSIS</a:t>
              </a:r>
            </a:p>
          </p:txBody>
        </p:sp>
        <p:sp>
          <p:nvSpPr>
            <p:cNvPr name="TextBox 228" id="228"/>
            <p:cNvSpPr txBox="true"/>
            <p:nvPr/>
          </p:nvSpPr>
          <p:spPr>
            <a:xfrm rot="0">
              <a:off x="20396200" y="-28575"/>
              <a:ext cx="1270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889"/>
                </a:lnSpc>
              </a:pPr>
              <a:r>
                <a:rPr lang="en-US" sz="1350">
                  <a:solidFill>
                    <a:srgbClr val="123534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6F0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3350"/>
            <a:chOff x="0" y="0"/>
            <a:chExt cx="24384000" cy="177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77800"/>
            </a:xfrm>
            <a:custGeom>
              <a:avLst/>
              <a:gdLst/>
              <a:ahLst/>
              <a:cxnLst/>
              <a:rect r="r" b="b" t="t" l="l"/>
              <a:pathLst>
                <a:path h="177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EF6A5B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90600" y="723900"/>
            <a:ext cx="5715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EF6A5B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02 / FIRST PASS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90600" y="1362075"/>
            <a:ext cx="14287500" cy="675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9"/>
              </a:lnSpc>
            </a:pPr>
            <a:r>
              <a:rPr lang="en-US" sz="4950">
                <a:solidFill>
                  <a:srgbClr val="123534"/>
                </a:solidFill>
                <a:latin typeface="Archivo Black"/>
                <a:ea typeface="Archivo Black"/>
                <a:cs typeface="Archivo Black"/>
                <a:sym typeface="Archivo Black"/>
              </a:rPr>
              <a:t>Clean — but extremely sparse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0600" y="2295525"/>
            <a:ext cx="10477500" cy="739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175">
                <a:solidFill>
                  <a:srgbClr val="123534"/>
                </a:solidFill>
                <a:latin typeface="DM Sans"/>
                <a:ea typeface="DM Sans"/>
                <a:cs typeface="DM Sans"/>
                <a:sym typeface="DM Sans"/>
              </a:rPr>
              <a:t>The matrix is structurally simple and analysis-ready. Its defining feature is absence: nearly every artist–game cell is zero.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0600" y="3905250"/>
            <a:ext cx="15011400" cy="952500"/>
            <a:chOff x="0" y="0"/>
            <a:chExt cx="20015200" cy="127000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27000" cy="127000"/>
              <a:chOff x="0" y="0"/>
              <a:chExt cx="127000" cy="127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11" id="11"/>
            <p:cNvGrpSpPr/>
            <p:nvPr/>
          </p:nvGrpSpPr>
          <p:grpSpPr>
            <a:xfrm rot="0">
              <a:off x="685800" y="0"/>
              <a:ext cx="127000" cy="127000"/>
              <a:chOff x="0" y="0"/>
              <a:chExt cx="127000" cy="127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13" id="13"/>
            <p:cNvGrpSpPr/>
            <p:nvPr/>
          </p:nvGrpSpPr>
          <p:grpSpPr>
            <a:xfrm rot="0">
              <a:off x="1371600" y="0"/>
              <a:ext cx="127000" cy="127000"/>
              <a:chOff x="0" y="0"/>
              <a:chExt cx="127000" cy="1270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15" id="15"/>
            <p:cNvGrpSpPr/>
            <p:nvPr/>
          </p:nvGrpSpPr>
          <p:grpSpPr>
            <a:xfrm rot="0">
              <a:off x="2057400" y="0"/>
              <a:ext cx="127000" cy="127000"/>
              <a:chOff x="0" y="0"/>
              <a:chExt cx="127000" cy="1270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17" id="17"/>
            <p:cNvGrpSpPr/>
            <p:nvPr/>
          </p:nvGrpSpPr>
          <p:grpSpPr>
            <a:xfrm rot="0">
              <a:off x="2743200" y="0"/>
              <a:ext cx="127000" cy="127000"/>
              <a:chOff x="0" y="0"/>
              <a:chExt cx="127000" cy="1270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19" id="19"/>
            <p:cNvGrpSpPr/>
            <p:nvPr/>
          </p:nvGrpSpPr>
          <p:grpSpPr>
            <a:xfrm rot="0">
              <a:off x="3429000" y="0"/>
              <a:ext cx="127000" cy="127000"/>
              <a:chOff x="0" y="0"/>
              <a:chExt cx="127000" cy="1270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21" id="21"/>
            <p:cNvGrpSpPr/>
            <p:nvPr/>
          </p:nvGrpSpPr>
          <p:grpSpPr>
            <a:xfrm rot="0">
              <a:off x="4114800" y="0"/>
              <a:ext cx="127000" cy="127000"/>
              <a:chOff x="0" y="0"/>
              <a:chExt cx="127000" cy="1270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23" id="23"/>
            <p:cNvGrpSpPr/>
            <p:nvPr/>
          </p:nvGrpSpPr>
          <p:grpSpPr>
            <a:xfrm rot="0">
              <a:off x="4800600" y="0"/>
              <a:ext cx="127000" cy="127000"/>
              <a:chOff x="0" y="0"/>
              <a:chExt cx="127000" cy="1270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25" id="25"/>
            <p:cNvGrpSpPr/>
            <p:nvPr/>
          </p:nvGrpSpPr>
          <p:grpSpPr>
            <a:xfrm rot="0">
              <a:off x="5486400" y="0"/>
              <a:ext cx="127000" cy="127000"/>
              <a:chOff x="0" y="0"/>
              <a:chExt cx="127000" cy="1270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27" id="27"/>
            <p:cNvGrpSpPr/>
            <p:nvPr/>
          </p:nvGrpSpPr>
          <p:grpSpPr>
            <a:xfrm rot="0">
              <a:off x="6172200" y="0"/>
              <a:ext cx="127000" cy="127000"/>
              <a:chOff x="0" y="0"/>
              <a:chExt cx="127000" cy="1270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29" id="29"/>
            <p:cNvGrpSpPr/>
            <p:nvPr/>
          </p:nvGrpSpPr>
          <p:grpSpPr>
            <a:xfrm rot="0">
              <a:off x="6858000" y="0"/>
              <a:ext cx="127000" cy="127000"/>
              <a:chOff x="0" y="0"/>
              <a:chExt cx="127000" cy="1270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31" id="31"/>
            <p:cNvGrpSpPr/>
            <p:nvPr/>
          </p:nvGrpSpPr>
          <p:grpSpPr>
            <a:xfrm rot="0">
              <a:off x="7543800" y="0"/>
              <a:ext cx="127000" cy="127000"/>
              <a:chOff x="0" y="0"/>
              <a:chExt cx="127000" cy="1270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33" id="33"/>
            <p:cNvGrpSpPr/>
            <p:nvPr/>
          </p:nvGrpSpPr>
          <p:grpSpPr>
            <a:xfrm rot="0">
              <a:off x="8229600" y="0"/>
              <a:ext cx="127000" cy="127000"/>
              <a:chOff x="0" y="0"/>
              <a:chExt cx="127000" cy="1270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35" id="35"/>
            <p:cNvGrpSpPr/>
            <p:nvPr/>
          </p:nvGrpSpPr>
          <p:grpSpPr>
            <a:xfrm rot="0">
              <a:off x="8915400" y="0"/>
              <a:ext cx="127000" cy="127000"/>
              <a:chOff x="0" y="0"/>
              <a:chExt cx="127000" cy="1270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37" id="37"/>
            <p:cNvGrpSpPr/>
            <p:nvPr/>
          </p:nvGrpSpPr>
          <p:grpSpPr>
            <a:xfrm rot="0">
              <a:off x="9601200" y="0"/>
              <a:ext cx="127000" cy="127000"/>
              <a:chOff x="0" y="0"/>
              <a:chExt cx="127000" cy="1270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39" id="39"/>
            <p:cNvGrpSpPr/>
            <p:nvPr/>
          </p:nvGrpSpPr>
          <p:grpSpPr>
            <a:xfrm rot="0">
              <a:off x="10287000" y="0"/>
              <a:ext cx="127000" cy="127000"/>
              <a:chOff x="0" y="0"/>
              <a:chExt cx="127000" cy="1270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41" id="41"/>
            <p:cNvGrpSpPr/>
            <p:nvPr/>
          </p:nvGrpSpPr>
          <p:grpSpPr>
            <a:xfrm rot="0">
              <a:off x="10972800" y="0"/>
              <a:ext cx="127000" cy="127000"/>
              <a:chOff x="0" y="0"/>
              <a:chExt cx="127000" cy="1270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43" id="43"/>
            <p:cNvGrpSpPr/>
            <p:nvPr/>
          </p:nvGrpSpPr>
          <p:grpSpPr>
            <a:xfrm rot="0">
              <a:off x="11658600" y="0"/>
              <a:ext cx="127000" cy="127000"/>
              <a:chOff x="0" y="0"/>
              <a:chExt cx="127000" cy="127000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EF6A5B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45" id="45"/>
            <p:cNvGrpSpPr/>
            <p:nvPr/>
          </p:nvGrpSpPr>
          <p:grpSpPr>
            <a:xfrm rot="0">
              <a:off x="12344400" y="0"/>
              <a:ext cx="127000" cy="127000"/>
              <a:chOff x="0" y="0"/>
              <a:chExt cx="127000" cy="1270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47" id="47"/>
            <p:cNvGrpSpPr/>
            <p:nvPr/>
          </p:nvGrpSpPr>
          <p:grpSpPr>
            <a:xfrm rot="0">
              <a:off x="13030200" y="0"/>
              <a:ext cx="127000" cy="127000"/>
              <a:chOff x="0" y="0"/>
              <a:chExt cx="127000" cy="127000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49" id="49"/>
            <p:cNvGrpSpPr/>
            <p:nvPr/>
          </p:nvGrpSpPr>
          <p:grpSpPr>
            <a:xfrm rot="0">
              <a:off x="13716000" y="0"/>
              <a:ext cx="127000" cy="127000"/>
              <a:chOff x="0" y="0"/>
              <a:chExt cx="127000" cy="127000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51" id="51"/>
            <p:cNvGrpSpPr/>
            <p:nvPr/>
          </p:nvGrpSpPr>
          <p:grpSpPr>
            <a:xfrm rot="0">
              <a:off x="14401800" y="0"/>
              <a:ext cx="127000" cy="127000"/>
              <a:chOff x="0" y="0"/>
              <a:chExt cx="127000" cy="127000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53" id="53"/>
            <p:cNvGrpSpPr/>
            <p:nvPr/>
          </p:nvGrpSpPr>
          <p:grpSpPr>
            <a:xfrm rot="0">
              <a:off x="15087600" y="0"/>
              <a:ext cx="127000" cy="127000"/>
              <a:chOff x="0" y="0"/>
              <a:chExt cx="127000" cy="127000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55" id="55"/>
            <p:cNvGrpSpPr/>
            <p:nvPr/>
          </p:nvGrpSpPr>
          <p:grpSpPr>
            <a:xfrm rot="0">
              <a:off x="15773400" y="0"/>
              <a:ext cx="127000" cy="127000"/>
              <a:chOff x="0" y="0"/>
              <a:chExt cx="127000" cy="127000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57" id="57"/>
            <p:cNvGrpSpPr/>
            <p:nvPr/>
          </p:nvGrpSpPr>
          <p:grpSpPr>
            <a:xfrm rot="0">
              <a:off x="16459200" y="0"/>
              <a:ext cx="127000" cy="127000"/>
              <a:chOff x="0" y="0"/>
              <a:chExt cx="127000" cy="127000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59" id="59"/>
            <p:cNvGrpSpPr/>
            <p:nvPr/>
          </p:nvGrpSpPr>
          <p:grpSpPr>
            <a:xfrm rot="0">
              <a:off x="17145000" y="0"/>
              <a:ext cx="127000" cy="127000"/>
              <a:chOff x="0" y="0"/>
              <a:chExt cx="127000" cy="127000"/>
            </a:xfrm>
          </p:grpSpPr>
          <p:sp>
            <p:nvSpPr>
              <p:cNvPr name="Freeform 60" id="60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61" id="61"/>
            <p:cNvGrpSpPr/>
            <p:nvPr/>
          </p:nvGrpSpPr>
          <p:grpSpPr>
            <a:xfrm rot="0">
              <a:off x="17830800" y="0"/>
              <a:ext cx="127000" cy="127000"/>
              <a:chOff x="0" y="0"/>
              <a:chExt cx="127000" cy="127000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63" id="63"/>
            <p:cNvGrpSpPr/>
            <p:nvPr/>
          </p:nvGrpSpPr>
          <p:grpSpPr>
            <a:xfrm rot="0">
              <a:off x="18516600" y="0"/>
              <a:ext cx="127000" cy="127000"/>
              <a:chOff x="0" y="0"/>
              <a:chExt cx="127000" cy="127000"/>
            </a:xfrm>
          </p:grpSpPr>
          <p:sp>
            <p:nvSpPr>
              <p:cNvPr name="Freeform 64" id="64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65" id="65"/>
            <p:cNvGrpSpPr/>
            <p:nvPr/>
          </p:nvGrpSpPr>
          <p:grpSpPr>
            <a:xfrm rot="0">
              <a:off x="19202400" y="0"/>
              <a:ext cx="127000" cy="127000"/>
              <a:chOff x="0" y="0"/>
              <a:chExt cx="127000" cy="127000"/>
            </a:xfrm>
          </p:grpSpPr>
          <p:sp>
            <p:nvSpPr>
              <p:cNvPr name="Freeform 66" id="66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67" id="67"/>
            <p:cNvGrpSpPr/>
            <p:nvPr/>
          </p:nvGrpSpPr>
          <p:grpSpPr>
            <a:xfrm rot="0">
              <a:off x="19888200" y="0"/>
              <a:ext cx="127000" cy="127000"/>
              <a:chOff x="0" y="0"/>
              <a:chExt cx="127000" cy="127000"/>
            </a:xfrm>
          </p:grpSpPr>
          <p:sp>
            <p:nvSpPr>
              <p:cNvPr name="Freeform 68" id="68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69" id="69"/>
            <p:cNvGrpSpPr/>
            <p:nvPr/>
          </p:nvGrpSpPr>
          <p:grpSpPr>
            <a:xfrm rot="0">
              <a:off x="0" y="571500"/>
              <a:ext cx="127000" cy="127000"/>
              <a:chOff x="0" y="0"/>
              <a:chExt cx="127000" cy="127000"/>
            </a:xfrm>
          </p:grpSpPr>
          <p:sp>
            <p:nvSpPr>
              <p:cNvPr name="Freeform 70" id="70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71" id="71"/>
            <p:cNvGrpSpPr/>
            <p:nvPr/>
          </p:nvGrpSpPr>
          <p:grpSpPr>
            <a:xfrm rot="0">
              <a:off x="685800" y="571500"/>
              <a:ext cx="127000" cy="127000"/>
              <a:chOff x="0" y="0"/>
              <a:chExt cx="127000" cy="127000"/>
            </a:xfrm>
          </p:grpSpPr>
          <p:sp>
            <p:nvSpPr>
              <p:cNvPr name="Freeform 72" id="72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73" id="73"/>
            <p:cNvGrpSpPr/>
            <p:nvPr/>
          </p:nvGrpSpPr>
          <p:grpSpPr>
            <a:xfrm rot="0">
              <a:off x="1371600" y="571500"/>
              <a:ext cx="127000" cy="127000"/>
              <a:chOff x="0" y="0"/>
              <a:chExt cx="127000" cy="127000"/>
            </a:xfrm>
          </p:grpSpPr>
          <p:sp>
            <p:nvSpPr>
              <p:cNvPr name="Freeform 74" id="74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75" id="75"/>
            <p:cNvGrpSpPr/>
            <p:nvPr/>
          </p:nvGrpSpPr>
          <p:grpSpPr>
            <a:xfrm rot="0">
              <a:off x="2057400" y="571500"/>
              <a:ext cx="127000" cy="127000"/>
              <a:chOff x="0" y="0"/>
              <a:chExt cx="127000" cy="127000"/>
            </a:xfrm>
          </p:grpSpPr>
          <p:sp>
            <p:nvSpPr>
              <p:cNvPr name="Freeform 76" id="76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77" id="77"/>
            <p:cNvGrpSpPr/>
            <p:nvPr/>
          </p:nvGrpSpPr>
          <p:grpSpPr>
            <a:xfrm rot="0">
              <a:off x="2743200" y="571500"/>
              <a:ext cx="127000" cy="127000"/>
              <a:chOff x="0" y="0"/>
              <a:chExt cx="127000" cy="127000"/>
            </a:xfrm>
          </p:grpSpPr>
          <p:sp>
            <p:nvSpPr>
              <p:cNvPr name="Freeform 78" id="78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79" id="79"/>
            <p:cNvGrpSpPr/>
            <p:nvPr/>
          </p:nvGrpSpPr>
          <p:grpSpPr>
            <a:xfrm rot="0">
              <a:off x="3429000" y="571500"/>
              <a:ext cx="127000" cy="127000"/>
              <a:chOff x="0" y="0"/>
              <a:chExt cx="127000" cy="127000"/>
            </a:xfrm>
          </p:grpSpPr>
          <p:sp>
            <p:nvSpPr>
              <p:cNvPr name="Freeform 80" id="80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81" id="81"/>
            <p:cNvGrpSpPr/>
            <p:nvPr/>
          </p:nvGrpSpPr>
          <p:grpSpPr>
            <a:xfrm rot="0">
              <a:off x="4114800" y="571500"/>
              <a:ext cx="127000" cy="127000"/>
              <a:chOff x="0" y="0"/>
              <a:chExt cx="127000" cy="127000"/>
            </a:xfrm>
          </p:grpSpPr>
          <p:sp>
            <p:nvSpPr>
              <p:cNvPr name="Freeform 82" id="82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83" id="83"/>
            <p:cNvGrpSpPr/>
            <p:nvPr/>
          </p:nvGrpSpPr>
          <p:grpSpPr>
            <a:xfrm rot="0">
              <a:off x="4800600" y="571500"/>
              <a:ext cx="127000" cy="127000"/>
              <a:chOff x="0" y="0"/>
              <a:chExt cx="127000" cy="127000"/>
            </a:xfrm>
          </p:grpSpPr>
          <p:sp>
            <p:nvSpPr>
              <p:cNvPr name="Freeform 84" id="84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85" id="85"/>
            <p:cNvGrpSpPr/>
            <p:nvPr/>
          </p:nvGrpSpPr>
          <p:grpSpPr>
            <a:xfrm rot="0">
              <a:off x="5486400" y="571500"/>
              <a:ext cx="127000" cy="127000"/>
              <a:chOff x="0" y="0"/>
              <a:chExt cx="127000" cy="127000"/>
            </a:xfrm>
          </p:grpSpPr>
          <p:sp>
            <p:nvSpPr>
              <p:cNvPr name="Freeform 86" id="86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87" id="87"/>
            <p:cNvGrpSpPr/>
            <p:nvPr/>
          </p:nvGrpSpPr>
          <p:grpSpPr>
            <a:xfrm rot="0">
              <a:off x="6172200" y="571500"/>
              <a:ext cx="127000" cy="127000"/>
              <a:chOff x="0" y="0"/>
              <a:chExt cx="127000" cy="127000"/>
            </a:xfrm>
          </p:grpSpPr>
          <p:sp>
            <p:nvSpPr>
              <p:cNvPr name="Freeform 88" id="88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89" id="89"/>
            <p:cNvGrpSpPr/>
            <p:nvPr/>
          </p:nvGrpSpPr>
          <p:grpSpPr>
            <a:xfrm rot="0">
              <a:off x="6858000" y="571500"/>
              <a:ext cx="127000" cy="127000"/>
              <a:chOff x="0" y="0"/>
              <a:chExt cx="127000" cy="127000"/>
            </a:xfrm>
          </p:grpSpPr>
          <p:sp>
            <p:nvSpPr>
              <p:cNvPr name="Freeform 90" id="90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91" id="91"/>
            <p:cNvGrpSpPr/>
            <p:nvPr/>
          </p:nvGrpSpPr>
          <p:grpSpPr>
            <a:xfrm rot="0">
              <a:off x="7543800" y="571500"/>
              <a:ext cx="127000" cy="127000"/>
              <a:chOff x="0" y="0"/>
              <a:chExt cx="127000" cy="127000"/>
            </a:xfrm>
          </p:grpSpPr>
          <p:sp>
            <p:nvSpPr>
              <p:cNvPr name="Freeform 92" id="92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93" id="93"/>
            <p:cNvGrpSpPr/>
            <p:nvPr/>
          </p:nvGrpSpPr>
          <p:grpSpPr>
            <a:xfrm rot="0">
              <a:off x="8229600" y="571500"/>
              <a:ext cx="127000" cy="127000"/>
              <a:chOff x="0" y="0"/>
              <a:chExt cx="127000" cy="127000"/>
            </a:xfrm>
          </p:grpSpPr>
          <p:sp>
            <p:nvSpPr>
              <p:cNvPr name="Freeform 94" id="94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95" id="95"/>
            <p:cNvGrpSpPr/>
            <p:nvPr/>
          </p:nvGrpSpPr>
          <p:grpSpPr>
            <a:xfrm rot="0">
              <a:off x="8915400" y="571500"/>
              <a:ext cx="127000" cy="127000"/>
              <a:chOff x="0" y="0"/>
              <a:chExt cx="127000" cy="127000"/>
            </a:xfrm>
          </p:grpSpPr>
          <p:sp>
            <p:nvSpPr>
              <p:cNvPr name="Freeform 96" id="96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97" id="97"/>
            <p:cNvGrpSpPr/>
            <p:nvPr/>
          </p:nvGrpSpPr>
          <p:grpSpPr>
            <a:xfrm rot="0">
              <a:off x="9601200" y="571500"/>
              <a:ext cx="127000" cy="127000"/>
              <a:chOff x="0" y="0"/>
              <a:chExt cx="127000" cy="127000"/>
            </a:xfrm>
          </p:grpSpPr>
          <p:sp>
            <p:nvSpPr>
              <p:cNvPr name="Freeform 98" id="98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99" id="99"/>
            <p:cNvGrpSpPr/>
            <p:nvPr/>
          </p:nvGrpSpPr>
          <p:grpSpPr>
            <a:xfrm rot="0">
              <a:off x="10287000" y="571500"/>
              <a:ext cx="127000" cy="127000"/>
              <a:chOff x="0" y="0"/>
              <a:chExt cx="127000" cy="127000"/>
            </a:xfrm>
          </p:grpSpPr>
          <p:sp>
            <p:nvSpPr>
              <p:cNvPr name="Freeform 100" id="100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101" id="101"/>
            <p:cNvGrpSpPr/>
            <p:nvPr/>
          </p:nvGrpSpPr>
          <p:grpSpPr>
            <a:xfrm rot="0">
              <a:off x="10972800" y="571500"/>
              <a:ext cx="127000" cy="127000"/>
              <a:chOff x="0" y="0"/>
              <a:chExt cx="127000" cy="127000"/>
            </a:xfrm>
          </p:grpSpPr>
          <p:sp>
            <p:nvSpPr>
              <p:cNvPr name="Freeform 102" id="102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103" id="103"/>
            <p:cNvGrpSpPr/>
            <p:nvPr/>
          </p:nvGrpSpPr>
          <p:grpSpPr>
            <a:xfrm rot="0">
              <a:off x="11658600" y="571500"/>
              <a:ext cx="127000" cy="127000"/>
              <a:chOff x="0" y="0"/>
              <a:chExt cx="127000" cy="127000"/>
            </a:xfrm>
          </p:grpSpPr>
          <p:sp>
            <p:nvSpPr>
              <p:cNvPr name="Freeform 104" id="104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105" id="105"/>
            <p:cNvGrpSpPr/>
            <p:nvPr/>
          </p:nvGrpSpPr>
          <p:grpSpPr>
            <a:xfrm rot="0">
              <a:off x="12344400" y="571500"/>
              <a:ext cx="127000" cy="127000"/>
              <a:chOff x="0" y="0"/>
              <a:chExt cx="127000" cy="127000"/>
            </a:xfrm>
          </p:grpSpPr>
          <p:sp>
            <p:nvSpPr>
              <p:cNvPr name="Freeform 106" id="106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107" id="107"/>
            <p:cNvGrpSpPr/>
            <p:nvPr/>
          </p:nvGrpSpPr>
          <p:grpSpPr>
            <a:xfrm rot="0">
              <a:off x="13030200" y="571500"/>
              <a:ext cx="127000" cy="127000"/>
              <a:chOff x="0" y="0"/>
              <a:chExt cx="127000" cy="127000"/>
            </a:xfrm>
          </p:grpSpPr>
          <p:sp>
            <p:nvSpPr>
              <p:cNvPr name="Freeform 108" id="108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109" id="109"/>
            <p:cNvGrpSpPr/>
            <p:nvPr/>
          </p:nvGrpSpPr>
          <p:grpSpPr>
            <a:xfrm rot="0">
              <a:off x="13716000" y="571500"/>
              <a:ext cx="127000" cy="127000"/>
              <a:chOff x="0" y="0"/>
              <a:chExt cx="127000" cy="127000"/>
            </a:xfrm>
          </p:grpSpPr>
          <p:sp>
            <p:nvSpPr>
              <p:cNvPr name="Freeform 110" id="110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111" id="111"/>
            <p:cNvGrpSpPr/>
            <p:nvPr/>
          </p:nvGrpSpPr>
          <p:grpSpPr>
            <a:xfrm rot="0">
              <a:off x="14401800" y="571500"/>
              <a:ext cx="127000" cy="127000"/>
              <a:chOff x="0" y="0"/>
              <a:chExt cx="127000" cy="127000"/>
            </a:xfrm>
          </p:grpSpPr>
          <p:sp>
            <p:nvSpPr>
              <p:cNvPr name="Freeform 112" id="112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113" id="113"/>
            <p:cNvGrpSpPr/>
            <p:nvPr/>
          </p:nvGrpSpPr>
          <p:grpSpPr>
            <a:xfrm rot="0">
              <a:off x="15087600" y="571500"/>
              <a:ext cx="127000" cy="127000"/>
              <a:chOff x="0" y="0"/>
              <a:chExt cx="127000" cy="127000"/>
            </a:xfrm>
          </p:grpSpPr>
          <p:sp>
            <p:nvSpPr>
              <p:cNvPr name="Freeform 114" id="114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115" id="115"/>
            <p:cNvGrpSpPr/>
            <p:nvPr/>
          </p:nvGrpSpPr>
          <p:grpSpPr>
            <a:xfrm rot="0">
              <a:off x="15773400" y="571500"/>
              <a:ext cx="127000" cy="127000"/>
              <a:chOff x="0" y="0"/>
              <a:chExt cx="127000" cy="127000"/>
            </a:xfrm>
          </p:grpSpPr>
          <p:sp>
            <p:nvSpPr>
              <p:cNvPr name="Freeform 116" id="116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117" id="117"/>
            <p:cNvGrpSpPr/>
            <p:nvPr/>
          </p:nvGrpSpPr>
          <p:grpSpPr>
            <a:xfrm rot="0">
              <a:off x="16459200" y="571500"/>
              <a:ext cx="127000" cy="127000"/>
              <a:chOff x="0" y="0"/>
              <a:chExt cx="127000" cy="127000"/>
            </a:xfrm>
          </p:grpSpPr>
          <p:sp>
            <p:nvSpPr>
              <p:cNvPr name="Freeform 118" id="118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119" id="119"/>
            <p:cNvGrpSpPr/>
            <p:nvPr/>
          </p:nvGrpSpPr>
          <p:grpSpPr>
            <a:xfrm rot="0">
              <a:off x="17145000" y="571500"/>
              <a:ext cx="127000" cy="127000"/>
              <a:chOff x="0" y="0"/>
              <a:chExt cx="127000" cy="127000"/>
            </a:xfrm>
          </p:grpSpPr>
          <p:sp>
            <p:nvSpPr>
              <p:cNvPr name="Freeform 120" id="120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121" id="121"/>
            <p:cNvGrpSpPr/>
            <p:nvPr/>
          </p:nvGrpSpPr>
          <p:grpSpPr>
            <a:xfrm rot="0">
              <a:off x="17830800" y="571500"/>
              <a:ext cx="127000" cy="127000"/>
              <a:chOff x="0" y="0"/>
              <a:chExt cx="127000" cy="127000"/>
            </a:xfrm>
          </p:grpSpPr>
          <p:sp>
            <p:nvSpPr>
              <p:cNvPr name="Freeform 122" id="122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123" id="123"/>
            <p:cNvGrpSpPr/>
            <p:nvPr/>
          </p:nvGrpSpPr>
          <p:grpSpPr>
            <a:xfrm rot="0">
              <a:off x="18516600" y="571500"/>
              <a:ext cx="127000" cy="127000"/>
              <a:chOff x="0" y="0"/>
              <a:chExt cx="127000" cy="127000"/>
            </a:xfrm>
          </p:grpSpPr>
          <p:sp>
            <p:nvSpPr>
              <p:cNvPr name="Freeform 124" id="124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125" id="125"/>
            <p:cNvGrpSpPr/>
            <p:nvPr/>
          </p:nvGrpSpPr>
          <p:grpSpPr>
            <a:xfrm rot="0">
              <a:off x="19202400" y="571500"/>
              <a:ext cx="127000" cy="127000"/>
              <a:chOff x="0" y="0"/>
              <a:chExt cx="127000" cy="127000"/>
            </a:xfrm>
          </p:grpSpPr>
          <p:sp>
            <p:nvSpPr>
              <p:cNvPr name="Freeform 126" id="126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127" id="127"/>
            <p:cNvGrpSpPr/>
            <p:nvPr/>
          </p:nvGrpSpPr>
          <p:grpSpPr>
            <a:xfrm rot="0">
              <a:off x="19888200" y="571500"/>
              <a:ext cx="127000" cy="127000"/>
              <a:chOff x="0" y="0"/>
              <a:chExt cx="127000" cy="127000"/>
            </a:xfrm>
          </p:grpSpPr>
          <p:sp>
            <p:nvSpPr>
              <p:cNvPr name="Freeform 128" id="128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129" id="129"/>
            <p:cNvGrpSpPr/>
            <p:nvPr/>
          </p:nvGrpSpPr>
          <p:grpSpPr>
            <a:xfrm rot="0">
              <a:off x="0" y="1143000"/>
              <a:ext cx="127000" cy="127000"/>
              <a:chOff x="0" y="0"/>
              <a:chExt cx="127000" cy="127000"/>
            </a:xfrm>
          </p:grpSpPr>
          <p:sp>
            <p:nvSpPr>
              <p:cNvPr name="Freeform 130" id="130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131" id="131"/>
            <p:cNvGrpSpPr/>
            <p:nvPr/>
          </p:nvGrpSpPr>
          <p:grpSpPr>
            <a:xfrm rot="0">
              <a:off x="685800" y="1143000"/>
              <a:ext cx="127000" cy="127000"/>
              <a:chOff x="0" y="0"/>
              <a:chExt cx="127000" cy="127000"/>
            </a:xfrm>
          </p:grpSpPr>
          <p:sp>
            <p:nvSpPr>
              <p:cNvPr name="Freeform 132" id="132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133" id="133"/>
            <p:cNvGrpSpPr/>
            <p:nvPr/>
          </p:nvGrpSpPr>
          <p:grpSpPr>
            <a:xfrm rot="0">
              <a:off x="1371600" y="1143000"/>
              <a:ext cx="127000" cy="127000"/>
              <a:chOff x="0" y="0"/>
              <a:chExt cx="127000" cy="127000"/>
            </a:xfrm>
          </p:grpSpPr>
          <p:sp>
            <p:nvSpPr>
              <p:cNvPr name="Freeform 134" id="134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135" id="135"/>
            <p:cNvGrpSpPr/>
            <p:nvPr/>
          </p:nvGrpSpPr>
          <p:grpSpPr>
            <a:xfrm rot="0">
              <a:off x="2057400" y="1143000"/>
              <a:ext cx="127000" cy="127000"/>
              <a:chOff x="0" y="0"/>
              <a:chExt cx="127000" cy="127000"/>
            </a:xfrm>
          </p:grpSpPr>
          <p:sp>
            <p:nvSpPr>
              <p:cNvPr name="Freeform 136" id="136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137" id="137"/>
            <p:cNvGrpSpPr/>
            <p:nvPr/>
          </p:nvGrpSpPr>
          <p:grpSpPr>
            <a:xfrm rot="0">
              <a:off x="2743200" y="1143000"/>
              <a:ext cx="127000" cy="127000"/>
              <a:chOff x="0" y="0"/>
              <a:chExt cx="127000" cy="127000"/>
            </a:xfrm>
          </p:grpSpPr>
          <p:sp>
            <p:nvSpPr>
              <p:cNvPr name="Freeform 138" id="138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139" id="139"/>
            <p:cNvGrpSpPr/>
            <p:nvPr/>
          </p:nvGrpSpPr>
          <p:grpSpPr>
            <a:xfrm rot="0">
              <a:off x="3429000" y="1143000"/>
              <a:ext cx="127000" cy="127000"/>
              <a:chOff x="0" y="0"/>
              <a:chExt cx="127000" cy="127000"/>
            </a:xfrm>
          </p:grpSpPr>
          <p:sp>
            <p:nvSpPr>
              <p:cNvPr name="Freeform 140" id="140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141" id="141"/>
            <p:cNvGrpSpPr/>
            <p:nvPr/>
          </p:nvGrpSpPr>
          <p:grpSpPr>
            <a:xfrm rot="0">
              <a:off x="4114800" y="1143000"/>
              <a:ext cx="127000" cy="127000"/>
              <a:chOff x="0" y="0"/>
              <a:chExt cx="127000" cy="127000"/>
            </a:xfrm>
          </p:grpSpPr>
          <p:sp>
            <p:nvSpPr>
              <p:cNvPr name="Freeform 142" id="142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143" id="143"/>
            <p:cNvGrpSpPr/>
            <p:nvPr/>
          </p:nvGrpSpPr>
          <p:grpSpPr>
            <a:xfrm rot="0">
              <a:off x="4800600" y="1143000"/>
              <a:ext cx="127000" cy="127000"/>
              <a:chOff x="0" y="0"/>
              <a:chExt cx="127000" cy="127000"/>
            </a:xfrm>
          </p:grpSpPr>
          <p:sp>
            <p:nvSpPr>
              <p:cNvPr name="Freeform 144" id="144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145" id="145"/>
            <p:cNvGrpSpPr/>
            <p:nvPr/>
          </p:nvGrpSpPr>
          <p:grpSpPr>
            <a:xfrm rot="0">
              <a:off x="5486400" y="1143000"/>
              <a:ext cx="127000" cy="127000"/>
              <a:chOff x="0" y="0"/>
              <a:chExt cx="127000" cy="127000"/>
            </a:xfrm>
          </p:grpSpPr>
          <p:sp>
            <p:nvSpPr>
              <p:cNvPr name="Freeform 146" id="146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147" id="147"/>
            <p:cNvGrpSpPr/>
            <p:nvPr/>
          </p:nvGrpSpPr>
          <p:grpSpPr>
            <a:xfrm rot="0">
              <a:off x="6172200" y="1143000"/>
              <a:ext cx="127000" cy="127000"/>
              <a:chOff x="0" y="0"/>
              <a:chExt cx="127000" cy="127000"/>
            </a:xfrm>
          </p:grpSpPr>
          <p:sp>
            <p:nvSpPr>
              <p:cNvPr name="Freeform 148" id="148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EF6A5B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149" id="149"/>
            <p:cNvGrpSpPr/>
            <p:nvPr/>
          </p:nvGrpSpPr>
          <p:grpSpPr>
            <a:xfrm rot="0">
              <a:off x="6858000" y="1143000"/>
              <a:ext cx="127000" cy="127000"/>
              <a:chOff x="0" y="0"/>
              <a:chExt cx="127000" cy="127000"/>
            </a:xfrm>
          </p:grpSpPr>
          <p:sp>
            <p:nvSpPr>
              <p:cNvPr name="Freeform 150" id="150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151" id="151"/>
            <p:cNvGrpSpPr/>
            <p:nvPr/>
          </p:nvGrpSpPr>
          <p:grpSpPr>
            <a:xfrm rot="0">
              <a:off x="7543800" y="1143000"/>
              <a:ext cx="127000" cy="127000"/>
              <a:chOff x="0" y="0"/>
              <a:chExt cx="127000" cy="127000"/>
            </a:xfrm>
          </p:grpSpPr>
          <p:sp>
            <p:nvSpPr>
              <p:cNvPr name="Freeform 152" id="152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153" id="153"/>
            <p:cNvGrpSpPr/>
            <p:nvPr/>
          </p:nvGrpSpPr>
          <p:grpSpPr>
            <a:xfrm rot="0">
              <a:off x="8229600" y="1143000"/>
              <a:ext cx="127000" cy="127000"/>
              <a:chOff x="0" y="0"/>
              <a:chExt cx="127000" cy="127000"/>
            </a:xfrm>
          </p:grpSpPr>
          <p:sp>
            <p:nvSpPr>
              <p:cNvPr name="Freeform 154" id="154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155" id="155"/>
            <p:cNvGrpSpPr/>
            <p:nvPr/>
          </p:nvGrpSpPr>
          <p:grpSpPr>
            <a:xfrm rot="0">
              <a:off x="8915400" y="1143000"/>
              <a:ext cx="127000" cy="127000"/>
              <a:chOff x="0" y="0"/>
              <a:chExt cx="127000" cy="127000"/>
            </a:xfrm>
          </p:grpSpPr>
          <p:sp>
            <p:nvSpPr>
              <p:cNvPr name="Freeform 156" id="156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157" id="157"/>
            <p:cNvGrpSpPr/>
            <p:nvPr/>
          </p:nvGrpSpPr>
          <p:grpSpPr>
            <a:xfrm rot="0">
              <a:off x="9601200" y="1143000"/>
              <a:ext cx="127000" cy="127000"/>
              <a:chOff x="0" y="0"/>
              <a:chExt cx="127000" cy="127000"/>
            </a:xfrm>
          </p:grpSpPr>
          <p:sp>
            <p:nvSpPr>
              <p:cNvPr name="Freeform 158" id="158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159" id="159"/>
            <p:cNvGrpSpPr/>
            <p:nvPr/>
          </p:nvGrpSpPr>
          <p:grpSpPr>
            <a:xfrm rot="0">
              <a:off x="10287000" y="1143000"/>
              <a:ext cx="127000" cy="127000"/>
              <a:chOff x="0" y="0"/>
              <a:chExt cx="127000" cy="127000"/>
            </a:xfrm>
          </p:grpSpPr>
          <p:sp>
            <p:nvSpPr>
              <p:cNvPr name="Freeform 160" id="160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161" id="161"/>
            <p:cNvGrpSpPr/>
            <p:nvPr/>
          </p:nvGrpSpPr>
          <p:grpSpPr>
            <a:xfrm rot="0">
              <a:off x="10972800" y="1143000"/>
              <a:ext cx="127000" cy="127000"/>
              <a:chOff x="0" y="0"/>
              <a:chExt cx="127000" cy="127000"/>
            </a:xfrm>
          </p:grpSpPr>
          <p:sp>
            <p:nvSpPr>
              <p:cNvPr name="Freeform 162" id="162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163" id="163"/>
            <p:cNvGrpSpPr/>
            <p:nvPr/>
          </p:nvGrpSpPr>
          <p:grpSpPr>
            <a:xfrm rot="0">
              <a:off x="11658600" y="1143000"/>
              <a:ext cx="127000" cy="127000"/>
              <a:chOff x="0" y="0"/>
              <a:chExt cx="127000" cy="127000"/>
            </a:xfrm>
          </p:grpSpPr>
          <p:sp>
            <p:nvSpPr>
              <p:cNvPr name="Freeform 164" id="164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165" id="165"/>
            <p:cNvGrpSpPr/>
            <p:nvPr/>
          </p:nvGrpSpPr>
          <p:grpSpPr>
            <a:xfrm rot="0">
              <a:off x="12344400" y="1143000"/>
              <a:ext cx="127000" cy="127000"/>
              <a:chOff x="0" y="0"/>
              <a:chExt cx="127000" cy="127000"/>
            </a:xfrm>
          </p:grpSpPr>
          <p:sp>
            <p:nvSpPr>
              <p:cNvPr name="Freeform 166" id="166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167" id="167"/>
            <p:cNvGrpSpPr/>
            <p:nvPr/>
          </p:nvGrpSpPr>
          <p:grpSpPr>
            <a:xfrm rot="0">
              <a:off x="13030200" y="1143000"/>
              <a:ext cx="127000" cy="127000"/>
              <a:chOff x="0" y="0"/>
              <a:chExt cx="127000" cy="127000"/>
            </a:xfrm>
          </p:grpSpPr>
          <p:sp>
            <p:nvSpPr>
              <p:cNvPr name="Freeform 168" id="168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169" id="169"/>
            <p:cNvGrpSpPr/>
            <p:nvPr/>
          </p:nvGrpSpPr>
          <p:grpSpPr>
            <a:xfrm rot="0">
              <a:off x="13716000" y="1143000"/>
              <a:ext cx="127000" cy="127000"/>
              <a:chOff x="0" y="0"/>
              <a:chExt cx="127000" cy="127000"/>
            </a:xfrm>
          </p:grpSpPr>
          <p:sp>
            <p:nvSpPr>
              <p:cNvPr name="Freeform 170" id="170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171" id="171"/>
            <p:cNvGrpSpPr/>
            <p:nvPr/>
          </p:nvGrpSpPr>
          <p:grpSpPr>
            <a:xfrm rot="0">
              <a:off x="14401800" y="1143000"/>
              <a:ext cx="127000" cy="127000"/>
              <a:chOff x="0" y="0"/>
              <a:chExt cx="127000" cy="127000"/>
            </a:xfrm>
          </p:grpSpPr>
          <p:sp>
            <p:nvSpPr>
              <p:cNvPr name="Freeform 172" id="172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173" id="173"/>
            <p:cNvGrpSpPr/>
            <p:nvPr/>
          </p:nvGrpSpPr>
          <p:grpSpPr>
            <a:xfrm rot="0">
              <a:off x="15087600" y="1143000"/>
              <a:ext cx="127000" cy="127000"/>
              <a:chOff x="0" y="0"/>
              <a:chExt cx="127000" cy="127000"/>
            </a:xfrm>
          </p:grpSpPr>
          <p:sp>
            <p:nvSpPr>
              <p:cNvPr name="Freeform 174" id="174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175" id="175"/>
            <p:cNvGrpSpPr/>
            <p:nvPr/>
          </p:nvGrpSpPr>
          <p:grpSpPr>
            <a:xfrm rot="0">
              <a:off x="15773400" y="1143000"/>
              <a:ext cx="127000" cy="127000"/>
              <a:chOff x="0" y="0"/>
              <a:chExt cx="127000" cy="127000"/>
            </a:xfrm>
          </p:grpSpPr>
          <p:sp>
            <p:nvSpPr>
              <p:cNvPr name="Freeform 176" id="176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177" id="177"/>
            <p:cNvGrpSpPr/>
            <p:nvPr/>
          </p:nvGrpSpPr>
          <p:grpSpPr>
            <a:xfrm rot="0">
              <a:off x="16459200" y="1143000"/>
              <a:ext cx="127000" cy="127000"/>
              <a:chOff x="0" y="0"/>
              <a:chExt cx="127000" cy="127000"/>
            </a:xfrm>
          </p:grpSpPr>
          <p:sp>
            <p:nvSpPr>
              <p:cNvPr name="Freeform 178" id="178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179" id="179"/>
            <p:cNvGrpSpPr/>
            <p:nvPr/>
          </p:nvGrpSpPr>
          <p:grpSpPr>
            <a:xfrm rot="0">
              <a:off x="17145000" y="1143000"/>
              <a:ext cx="127000" cy="127000"/>
              <a:chOff x="0" y="0"/>
              <a:chExt cx="127000" cy="127000"/>
            </a:xfrm>
          </p:grpSpPr>
          <p:sp>
            <p:nvSpPr>
              <p:cNvPr name="Freeform 180" id="180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181" id="181"/>
            <p:cNvGrpSpPr/>
            <p:nvPr/>
          </p:nvGrpSpPr>
          <p:grpSpPr>
            <a:xfrm rot="0">
              <a:off x="17830800" y="1143000"/>
              <a:ext cx="127000" cy="127000"/>
              <a:chOff x="0" y="0"/>
              <a:chExt cx="127000" cy="127000"/>
            </a:xfrm>
          </p:grpSpPr>
          <p:sp>
            <p:nvSpPr>
              <p:cNvPr name="Freeform 182" id="182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183" id="183"/>
            <p:cNvGrpSpPr/>
            <p:nvPr/>
          </p:nvGrpSpPr>
          <p:grpSpPr>
            <a:xfrm rot="0">
              <a:off x="18516600" y="1143000"/>
              <a:ext cx="127000" cy="127000"/>
              <a:chOff x="0" y="0"/>
              <a:chExt cx="127000" cy="127000"/>
            </a:xfrm>
          </p:grpSpPr>
          <p:sp>
            <p:nvSpPr>
              <p:cNvPr name="Freeform 184" id="184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185" id="185"/>
            <p:cNvGrpSpPr/>
            <p:nvPr/>
          </p:nvGrpSpPr>
          <p:grpSpPr>
            <a:xfrm rot="0">
              <a:off x="19202400" y="1143000"/>
              <a:ext cx="127000" cy="127000"/>
              <a:chOff x="0" y="0"/>
              <a:chExt cx="127000" cy="127000"/>
            </a:xfrm>
          </p:grpSpPr>
          <p:sp>
            <p:nvSpPr>
              <p:cNvPr name="Freeform 186" id="186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187" id="187"/>
            <p:cNvGrpSpPr/>
            <p:nvPr/>
          </p:nvGrpSpPr>
          <p:grpSpPr>
            <a:xfrm rot="0">
              <a:off x="19888200" y="1143000"/>
              <a:ext cx="127000" cy="127000"/>
              <a:chOff x="0" y="0"/>
              <a:chExt cx="127000" cy="127000"/>
            </a:xfrm>
          </p:grpSpPr>
          <p:sp>
            <p:nvSpPr>
              <p:cNvPr name="Freeform 188" id="188"/>
              <p:cNvSpPr/>
              <p:nvPr/>
            </p:nvSpPr>
            <p:spPr>
              <a:xfrm flipH="false" flipV="false" rot="0">
                <a:off x="0" y="0"/>
                <a:ext cx="127000" cy="127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</p:grpSp>
      </p:grpSp>
      <p:grpSp>
        <p:nvGrpSpPr>
          <p:cNvPr name="Group 189" id="189"/>
          <p:cNvGrpSpPr/>
          <p:nvPr/>
        </p:nvGrpSpPr>
        <p:grpSpPr>
          <a:xfrm rot="0">
            <a:off x="990600" y="6191250"/>
            <a:ext cx="4953000" cy="1749266"/>
            <a:chOff x="0" y="0"/>
            <a:chExt cx="6604000" cy="2332355"/>
          </a:xfrm>
        </p:grpSpPr>
        <p:sp>
          <p:nvSpPr>
            <p:cNvPr name="TextBox 190" id="190"/>
            <p:cNvSpPr txBox="true"/>
            <p:nvPr/>
          </p:nvSpPr>
          <p:spPr>
            <a:xfrm rot="0">
              <a:off x="0" y="-114300"/>
              <a:ext cx="5461000" cy="13004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189"/>
                </a:lnSpc>
              </a:pPr>
              <a:r>
                <a:rPr lang="en-US" sz="5850">
                  <a:solidFill>
                    <a:srgbClr val="123534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CLEAN</a:t>
              </a:r>
            </a:p>
          </p:txBody>
        </p:sp>
        <p:sp>
          <p:nvSpPr>
            <p:cNvPr name="TextBox 191" id="191"/>
            <p:cNvSpPr txBox="true"/>
            <p:nvPr/>
          </p:nvSpPr>
          <p:spPr>
            <a:xfrm rot="0">
              <a:off x="0" y="1358900"/>
              <a:ext cx="6604000" cy="973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en-US" sz="2175">
                  <a:solidFill>
                    <a:srgbClr val="123534"/>
                  </a:solidFill>
                  <a:latin typeface="DM Sans"/>
                  <a:ea typeface="DM Sans"/>
                  <a:cs typeface="DM Sans"/>
                  <a:sym typeface="DM Sans"/>
                </a:rPr>
                <a:t>Stable row key</a:t>
              </a:r>
            </a:p>
            <a:p>
              <a:pPr algn="l">
                <a:lnSpc>
                  <a:spcPts val="2936"/>
                </a:lnSpc>
              </a:pPr>
              <a:r>
                <a:rPr lang="en-US" sz="2175">
                  <a:solidFill>
                    <a:srgbClr val="123534"/>
                  </a:solidFill>
                  <a:latin typeface="DM Sans"/>
                  <a:ea typeface="DM Sans"/>
                  <a:cs typeface="DM Sans"/>
                  <a:sym typeface="DM Sans"/>
                </a:rPr>
                <a:t>Binary artist columns</a:t>
              </a:r>
            </a:p>
          </p:txBody>
        </p:sp>
      </p:grpSp>
      <p:grpSp>
        <p:nvGrpSpPr>
          <p:cNvPr name="Group 192" id="192"/>
          <p:cNvGrpSpPr/>
          <p:nvPr/>
        </p:nvGrpSpPr>
        <p:grpSpPr>
          <a:xfrm rot="0">
            <a:off x="9239250" y="6191250"/>
            <a:ext cx="6191250" cy="1749266"/>
            <a:chOff x="0" y="0"/>
            <a:chExt cx="8255000" cy="2332355"/>
          </a:xfrm>
        </p:grpSpPr>
        <p:sp>
          <p:nvSpPr>
            <p:cNvPr name="TextBox 193" id="193"/>
            <p:cNvSpPr txBox="true"/>
            <p:nvPr/>
          </p:nvSpPr>
          <p:spPr>
            <a:xfrm rot="0">
              <a:off x="0" y="-114300"/>
              <a:ext cx="8255000" cy="13004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189"/>
                </a:lnSpc>
              </a:pPr>
              <a:r>
                <a:rPr lang="en-US" sz="5850">
                  <a:solidFill>
                    <a:srgbClr val="EF6A5B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SPARSE</a:t>
              </a:r>
            </a:p>
          </p:txBody>
        </p:sp>
        <p:sp>
          <p:nvSpPr>
            <p:cNvPr name="TextBox 194" id="194"/>
            <p:cNvSpPr txBox="true"/>
            <p:nvPr/>
          </p:nvSpPr>
          <p:spPr>
            <a:xfrm rot="0">
              <a:off x="0" y="1358900"/>
              <a:ext cx="6604000" cy="973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en-US" sz="2175">
                  <a:solidFill>
                    <a:srgbClr val="123534"/>
                  </a:solidFill>
                  <a:latin typeface="DM Sans"/>
                  <a:ea typeface="DM Sans"/>
                  <a:cs typeface="DM Sans"/>
                  <a:sym typeface="DM Sans"/>
                </a:rPr>
                <a:t>Wide matrix</a:t>
              </a:r>
            </a:p>
            <a:p>
              <a:pPr algn="l">
                <a:lnSpc>
                  <a:spcPts val="2936"/>
                </a:lnSpc>
              </a:pPr>
              <a:r>
                <a:rPr lang="en-US" sz="2175">
                  <a:solidFill>
                    <a:srgbClr val="123534"/>
                  </a:solidFill>
                  <a:latin typeface="DM Sans"/>
                  <a:ea typeface="DM Sans"/>
                  <a:cs typeface="DM Sans"/>
                  <a:sym typeface="DM Sans"/>
                </a:rPr>
                <a:t>Very low density</a:t>
              </a:r>
            </a:p>
          </p:txBody>
        </p:sp>
      </p:grpSp>
      <p:grpSp>
        <p:nvGrpSpPr>
          <p:cNvPr name="Group 195" id="195"/>
          <p:cNvGrpSpPr/>
          <p:nvPr/>
        </p:nvGrpSpPr>
        <p:grpSpPr>
          <a:xfrm rot="0">
            <a:off x="990600" y="9715500"/>
            <a:ext cx="16249650" cy="203835"/>
            <a:chOff x="0" y="0"/>
            <a:chExt cx="21666200" cy="271780"/>
          </a:xfrm>
        </p:grpSpPr>
        <p:sp>
          <p:nvSpPr>
            <p:cNvPr name="TextBox 196" id="196"/>
            <p:cNvSpPr txBox="true"/>
            <p:nvPr/>
          </p:nvSpPr>
          <p:spPr>
            <a:xfrm rot="0">
              <a:off x="0" y="-28575"/>
              <a:ext cx="10160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08">
                  <a:solidFill>
                    <a:srgbClr val="123534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BGG ARTISTS / EXPLORATORY ANALYSIS</a:t>
              </a:r>
            </a:p>
          </p:txBody>
        </p:sp>
        <p:sp>
          <p:nvSpPr>
            <p:cNvPr name="TextBox 197" id="197"/>
            <p:cNvSpPr txBox="true"/>
            <p:nvPr/>
          </p:nvSpPr>
          <p:spPr>
            <a:xfrm rot="0">
              <a:off x="20396200" y="-28575"/>
              <a:ext cx="1270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889"/>
                </a:lnSpc>
              </a:pPr>
              <a:r>
                <a:rPr lang="en-US" sz="1350">
                  <a:solidFill>
                    <a:srgbClr val="123534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6F0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3350"/>
            <a:chOff x="0" y="0"/>
            <a:chExt cx="24384000" cy="177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77800"/>
            </a:xfrm>
            <a:custGeom>
              <a:avLst/>
              <a:gdLst/>
              <a:ahLst/>
              <a:cxnLst/>
              <a:rect r="r" b="b" t="t" l="l"/>
              <a:pathLst>
                <a:path h="177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EF6A5B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90600" y="723900"/>
            <a:ext cx="5715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EF6A5B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03 / COVERAGE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90600" y="1362075"/>
            <a:ext cx="12382500" cy="675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9"/>
              </a:lnSpc>
            </a:pPr>
            <a:r>
              <a:rPr lang="en-US" sz="4950">
                <a:solidFill>
                  <a:srgbClr val="123534"/>
                </a:solidFill>
                <a:latin typeface="Archivo Black"/>
                <a:ea typeface="Archivo Black"/>
                <a:cs typeface="Archivo Black"/>
                <a:sym typeface="Archivo Black"/>
              </a:rPr>
              <a:t>Which games credit an artist?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0600" y="2295525"/>
            <a:ext cx="10953750" cy="1111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175">
                <a:solidFill>
                  <a:srgbClr val="123534"/>
                </a:solidFill>
                <a:latin typeface="DM Sans"/>
                <a:ea typeface="DM Sans"/>
                <a:cs typeface="DM Sans"/>
                <a:sym typeface="DM Sans"/>
              </a:rPr>
              <a:t>Coverage is a row-level question: sum each game’s artist columns, then count rows above zero. The supplied summary does not report that final count — so it should be computed, not guessed.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66750" y="4238625"/>
            <a:ext cx="10325100" cy="1285875"/>
            <a:chOff x="0" y="0"/>
            <a:chExt cx="13766800" cy="171450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3716000" cy="1714500"/>
              <a:chOff x="0" y="0"/>
              <a:chExt cx="13716000" cy="17145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3716000" cy="1714500"/>
              </a:xfrm>
              <a:custGeom>
                <a:avLst/>
                <a:gdLst/>
                <a:ahLst/>
                <a:cxnLst/>
                <a:rect r="r" b="b" t="t" l="l"/>
                <a:pathLst>
                  <a:path h="1714500" w="13716000">
                    <a:moveTo>
                      <a:pt x="0" y="0"/>
                    </a:moveTo>
                    <a:lnTo>
                      <a:pt x="13716000" y="0"/>
                    </a:lnTo>
                    <a:lnTo>
                      <a:pt x="13716000" y="1714500"/>
                    </a:lnTo>
                    <a:lnTo>
                      <a:pt x="0" y="1714500"/>
                    </a:ln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13716000" cy="1752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431800" y="431800"/>
              <a:ext cx="13335000" cy="805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40"/>
                </a:lnSpc>
              </a:pPr>
              <a:r>
                <a:rPr lang="en-US" sz="3600">
                  <a:solidFill>
                    <a:srgbClr val="123534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coverage = mean(row sum &gt; 0)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144250" y="4000500"/>
            <a:ext cx="5524500" cy="1291590"/>
            <a:chOff x="0" y="0"/>
            <a:chExt cx="7366000" cy="1722120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161925"/>
              <a:ext cx="7366000" cy="1362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125"/>
                </a:lnSpc>
              </a:pPr>
              <a:r>
                <a:rPr lang="en-US" sz="7500">
                  <a:solidFill>
                    <a:srgbClr val="EF6A5B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18,816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1358900"/>
              <a:ext cx="6350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98" b="true">
                  <a:solidFill>
                    <a:srgbClr val="EF6A5B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TOTAL ARTIST CREDITS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990600" y="6848475"/>
            <a:ext cx="13525500" cy="377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0"/>
              </a:lnSpc>
            </a:pPr>
            <a:r>
              <a:rPr lang="en-US" sz="2475">
                <a:solidFill>
                  <a:srgbClr val="123534"/>
                </a:solidFill>
                <a:latin typeface="Archivo Black"/>
                <a:ea typeface="Archivo Black"/>
                <a:cs typeface="Archivo Black"/>
                <a:sym typeface="Archivo Black"/>
              </a:rPr>
              <a:t>Report both: games with ≥1 named artist, and games with zero named artists.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90600" y="9715500"/>
            <a:ext cx="16249650" cy="203835"/>
            <a:chOff x="0" y="0"/>
            <a:chExt cx="21666200" cy="271780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-28575"/>
              <a:ext cx="10160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08">
                  <a:solidFill>
                    <a:srgbClr val="123534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BGG ARTISTS / EXPLORATORY ANALYSIS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20396200" y="-28575"/>
              <a:ext cx="1270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889"/>
                </a:lnSpc>
              </a:pPr>
              <a:r>
                <a:rPr lang="en-US" sz="1350">
                  <a:solidFill>
                    <a:srgbClr val="123534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73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3350"/>
            <a:chOff x="0" y="0"/>
            <a:chExt cx="24384000" cy="177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77800"/>
            </a:xfrm>
            <a:custGeom>
              <a:avLst/>
              <a:gdLst/>
              <a:ahLst/>
              <a:cxnLst/>
              <a:rect r="r" b="b" t="t" l="l"/>
              <a:pathLst>
                <a:path h="177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EF6A5B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90600" y="723900"/>
            <a:ext cx="5715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EF6A5B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04 / DISTRIBUTION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90600" y="1362075"/>
            <a:ext cx="14287500" cy="675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9"/>
              </a:lnSpc>
            </a:pPr>
            <a:r>
              <a:rPr lang="en-US" sz="4950">
                <a:solidFill>
                  <a:srgbClr val="FFFAF0"/>
                </a:solidFill>
                <a:latin typeface="Archivo Black"/>
                <a:ea typeface="Archivo Black"/>
                <a:cs typeface="Archivo Black"/>
                <a:sym typeface="Archivo Black"/>
              </a:rPr>
              <a:t>Usually one artist. Occasionally many.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0600" y="2295525"/>
            <a:ext cx="10001250" cy="739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175">
                <a:solidFill>
                  <a:srgbClr val="FFFAF0"/>
                </a:solidFill>
                <a:latin typeface="DM Sans"/>
                <a:ea typeface="DM Sans"/>
                <a:cs typeface="DM Sans"/>
                <a:sym typeface="DM Sans"/>
              </a:rPr>
              <a:t>The modal experience is a single named artist. A thin tail of multi-artist games creates the collaboration network.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0600" y="4286250"/>
            <a:ext cx="4000500" cy="2171700"/>
            <a:chOff x="0" y="0"/>
            <a:chExt cx="5334000" cy="289560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285750"/>
              <a:ext cx="4064000" cy="31813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950"/>
                </a:lnSpc>
              </a:pPr>
              <a:r>
                <a:rPr lang="en-US" sz="14250">
                  <a:solidFill>
                    <a:srgbClr val="EF6A5B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1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2501900"/>
              <a:ext cx="5334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98" b="true">
                  <a:solidFill>
                    <a:srgbClr val="EF6A5B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MOST COMMON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77000" y="3857625"/>
            <a:ext cx="9763125" cy="4048125"/>
            <a:chOff x="0" y="0"/>
            <a:chExt cx="13017500" cy="539750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571500"/>
              <a:ext cx="11684000" cy="660400"/>
              <a:chOff x="0" y="0"/>
              <a:chExt cx="11684000" cy="6604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1684000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11684000">
                    <a:moveTo>
                      <a:pt x="0" y="0"/>
                    </a:moveTo>
                    <a:lnTo>
                      <a:pt x="11684000" y="0"/>
                    </a:lnTo>
                    <a:lnTo>
                      <a:pt x="11684000" y="660400"/>
                    </a:lnTo>
                    <a:lnTo>
                      <a:pt x="0" y="660400"/>
                    </a:lnTo>
                    <a:close/>
                  </a:path>
                </a:pathLst>
              </a:custGeom>
              <a:solidFill>
                <a:srgbClr val="EF6A5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116840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1612900"/>
              <a:ext cx="6731000" cy="660400"/>
              <a:chOff x="0" y="0"/>
              <a:chExt cx="6731000" cy="6604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6731000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67310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660400"/>
                    </a:lnTo>
                    <a:lnTo>
                      <a:pt x="0" y="660400"/>
                    </a:lnTo>
                    <a:close/>
                  </a:path>
                </a:pathLst>
              </a:custGeom>
              <a:solidFill>
                <a:srgbClr val="9FC7B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67310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0" y="2654300"/>
              <a:ext cx="3810000" cy="660400"/>
              <a:chOff x="0" y="0"/>
              <a:chExt cx="3810000" cy="6604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3810000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3810000">
                    <a:moveTo>
                      <a:pt x="0" y="0"/>
                    </a:moveTo>
                    <a:lnTo>
                      <a:pt x="3810000" y="0"/>
                    </a:lnTo>
                    <a:lnTo>
                      <a:pt x="3810000" y="660400"/>
                    </a:lnTo>
                    <a:lnTo>
                      <a:pt x="0" y="660400"/>
                    </a:lnTo>
                    <a:close/>
                  </a:path>
                </a:pathLst>
              </a:custGeom>
              <a:solidFill>
                <a:srgbClr val="9FC7B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38100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0" y="3695700"/>
              <a:ext cx="2032000" cy="660400"/>
              <a:chOff x="0" y="0"/>
              <a:chExt cx="2032000" cy="6604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2032000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2032000">
                    <a:moveTo>
                      <a:pt x="0" y="0"/>
                    </a:moveTo>
                    <a:lnTo>
                      <a:pt x="2032000" y="0"/>
                    </a:lnTo>
                    <a:lnTo>
                      <a:pt x="2032000" y="660400"/>
                    </a:lnTo>
                    <a:lnTo>
                      <a:pt x="0" y="660400"/>
                    </a:lnTo>
                    <a:close/>
                  </a:path>
                </a:pathLst>
              </a:custGeom>
              <a:solidFill>
                <a:srgbClr val="9FC7B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20320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0" y="4737100"/>
              <a:ext cx="1079500" cy="660400"/>
              <a:chOff x="0" y="0"/>
              <a:chExt cx="1079500" cy="6604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079500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1079500">
                    <a:moveTo>
                      <a:pt x="0" y="0"/>
                    </a:moveTo>
                    <a:lnTo>
                      <a:pt x="1079500" y="0"/>
                    </a:lnTo>
                    <a:lnTo>
                      <a:pt x="1079500" y="660400"/>
                    </a:lnTo>
                    <a:lnTo>
                      <a:pt x="0" y="660400"/>
                    </a:lnTo>
                    <a:close/>
                  </a:path>
                </a:pathLst>
              </a:custGeom>
              <a:solidFill>
                <a:srgbClr val="9FC7B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38100"/>
                <a:ext cx="10795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0" y="-38100"/>
              <a:ext cx="3810000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FFFAF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1 artist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12001500" y="660400"/>
              <a:ext cx="1016000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9FC7B8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2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7048500" y="1701800"/>
              <a:ext cx="1016000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9FC7B8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3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4127500" y="2743200"/>
              <a:ext cx="1016000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9FC7B8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4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3175000" y="3784600"/>
              <a:ext cx="1016000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9FC7B8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5+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90600" y="9715500"/>
            <a:ext cx="16249650" cy="203835"/>
            <a:chOff x="0" y="0"/>
            <a:chExt cx="21666200" cy="271780"/>
          </a:xfrm>
        </p:grpSpPr>
        <p:sp>
          <p:nvSpPr>
            <p:cNvPr name="TextBox 33" id="33"/>
            <p:cNvSpPr txBox="true"/>
            <p:nvPr/>
          </p:nvSpPr>
          <p:spPr>
            <a:xfrm rot="0">
              <a:off x="0" y="-28575"/>
              <a:ext cx="10160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08">
                  <a:solidFill>
                    <a:srgbClr val="9FC7B8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BGG ARTISTS / EXPLORATORY ANALYSIS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20396200" y="-28575"/>
              <a:ext cx="1270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889"/>
                </a:lnSpc>
              </a:pPr>
              <a:r>
                <a:rPr lang="en-US" sz="1350">
                  <a:solidFill>
                    <a:srgbClr val="9FC7B8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0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3350"/>
            <a:chOff x="0" y="0"/>
            <a:chExt cx="24384000" cy="177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77800"/>
            </a:xfrm>
            <a:custGeom>
              <a:avLst/>
              <a:gdLst/>
              <a:ahLst/>
              <a:cxnLst/>
              <a:rect r="r" b="b" t="t" l="l"/>
              <a:pathLst>
                <a:path h="177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EF6A5B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90600" y="628650"/>
            <a:ext cx="6667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EF6A5B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05 / CONCENTRATION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90600" y="1266825"/>
            <a:ext cx="11906250" cy="675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9"/>
              </a:lnSpc>
            </a:pPr>
            <a:r>
              <a:rPr lang="en-US" sz="4950">
                <a:solidFill>
                  <a:srgbClr val="123534"/>
                </a:solidFill>
                <a:latin typeface="Archivo Black"/>
                <a:ea typeface="Archivo Black"/>
                <a:cs typeface="Archivo Black"/>
                <a:sym typeface="Archivo Black"/>
              </a:rPr>
              <a:t>A few artists dominate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0600" y="2714625"/>
            <a:ext cx="16059150" cy="1243965"/>
            <a:chOff x="0" y="0"/>
            <a:chExt cx="21412200" cy="165862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161925"/>
              <a:ext cx="3810000" cy="1362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125"/>
                </a:lnSpc>
              </a:pPr>
              <a:r>
                <a:rPr lang="en-US" sz="7500">
                  <a:solidFill>
                    <a:srgbClr val="EF6A5B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6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295400"/>
              <a:ext cx="3810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98" b="true">
                  <a:solidFill>
                    <a:srgbClr val="EF6A5B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MEDIAN GAMES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4140200" y="161925"/>
              <a:ext cx="4572000" cy="1362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125"/>
                </a:lnSpc>
              </a:pPr>
              <a:r>
                <a:rPr lang="en-US" sz="7500">
                  <a:solidFill>
                    <a:srgbClr val="EF6A5B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11.2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4140200" y="1295400"/>
              <a:ext cx="3810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98" b="true">
                  <a:solidFill>
                    <a:srgbClr val="EF6A5B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MEAN GAMES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9474200" y="161925"/>
              <a:ext cx="4445000" cy="1362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125"/>
                </a:lnSpc>
              </a:pPr>
              <a:r>
                <a:rPr lang="en-US" sz="7500">
                  <a:solidFill>
                    <a:srgbClr val="EF6A5B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379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9474200" y="1295400"/>
              <a:ext cx="3810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98" b="true">
                  <a:solidFill>
                    <a:srgbClr val="EF6A5B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MAX GAMES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6332200" y="485775"/>
              <a:ext cx="5080000" cy="923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774"/>
                </a:lnSpc>
              </a:pPr>
              <a:r>
                <a:rPr lang="en-US" sz="4125">
                  <a:solidFill>
                    <a:srgbClr val="123534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Gini 0.48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32784" y="4895850"/>
            <a:ext cx="11355131" cy="3789045"/>
            <a:chOff x="0" y="0"/>
            <a:chExt cx="15140175" cy="5052060"/>
          </a:xfrm>
        </p:grpSpPr>
        <p:pic>
          <p:nvPicPr>
            <p:cNvPr name="Picture 16" id="16"/>
            <p:cNvPicPr>
              <a:picLocks noChangeAspect="true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0">
              <a:off x="-1514017" y="-1514018"/>
              <a:ext cx="18168210" cy="6609435"/>
            </a:xfrm>
            <a:prstGeom prst="rect">
              <a:avLst/>
            </a:prstGeom>
          </p:spPr>
        </p:pic>
        <p:sp>
          <p:nvSpPr>
            <p:cNvPr name="TextBox 17" id="17"/>
            <p:cNvSpPr txBox="true"/>
            <p:nvPr/>
          </p:nvSpPr>
          <p:spPr>
            <a:xfrm rot="0">
              <a:off x="77087" y="4546600"/>
              <a:ext cx="13335000" cy="505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54"/>
                </a:lnSpc>
              </a:pPr>
              <a:r>
                <a:rPr lang="en-US" sz="2325">
                  <a:solidFill>
                    <a:srgbClr val="123534"/>
                  </a:solidFill>
                  <a:latin typeface="DM Sans"/>
                  <a:ea typeface="DM Sans"/>
                  <a:cs typeface="DM Sans"/>
                  <a:sym typeface="DM Sans"/>
                </a:rPr>
                <a:t>703 artists have only 4–5 games. Just 14 have 100+.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90600" y="9715500"/>
            <a:ext cx="16249650" cy="203835"/>
            <a:chOff x="0" y="0"/>
            <a:chExt cx="21666200" cy="271780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-28575"/>
              <a:ext cx="10160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08">
                  <a:solidFill>
                    <a:srgbClr val="123534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BGG ARTISTS / EXPLORATORY ANALYSIS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20396200" y="-28575"/>
              <a:ext cx="1270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889"/>
                </a:lnSpc>
              </a:pPr>
              <a:r>
                <a:rPr lang="en-US" sz="1350">
                  <a:solidFill>
                    <a:srgbClr val="123534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73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3350"/>
            <a:chOff x="0" y="0"/>
            <a:chExt cx="24384000" cy="177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77800"/>
            </a:xfrm>
            <a:custGeom>
              <a:avLst/>
              <a:gdLst/>
              <a:ahLst/>
              <a:cxnLst/>
              <a:rect r="r" b="b" t="t" l="l"/>
              <a:pathLst>
                <a:path h="177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EF6A5B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90600" y="628650"/>
            <a:ext cx="6667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EF6A5B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06 / COLLABORATION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90600" y="1266825"/>
            <a:ext cx="12382500" cy="675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9"/>
              </a:lnSpc>
            </a:pPr>
            <a:r>
              <a:rPr lang="en-US" sz="4950">
                <a:solidFill>
                  <a:srgbClr val="FFFAF0"/>
                </a:solidFill>
                <a:latin typeface="Archivo Black"/>
                <a:ea typeface="Archivo Black"/>
                <a:cs typeface="Archivo Black"/>
                <a:sym typeface="Archivo Black"/>
              </a:rPr>
              <a:t>Partnerships form a long tail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0600" y="2200275"/>
            <a:ext cx="10001250" cy="368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175">
                <a:solidFill>
                  <a:srgbClr val="FFFAF0"/>
                </a:solidFill>
                <a:latin typeface="DM Sans"/>
                <a:ea typeface="DM Sans"/>
                <a:cs typeface="DM Sans"/>
                <a:sym typeface="DM Sans"/>
              </a:rPr>
              <a:t>25,413 artist pairs share at least one game. Only 69 pairs share 10 or more.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0600" y="4000500"/>
            <a:ext cx="13296900" cy="1291590"/>
            <a:chOff x="0" y="0"/>
            <a:chExt cx="17729200" cy="172212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61925"/>
              <a:ext cx="7620000" cy="1362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125"/>
                </a:lnSpc>
              </a:pPr>
              <a:r>
                <a:rPr lang="en-US" sz="7500">
                  <a:solidFill>
                    <a:srgbClr val="EF6A5B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25,413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358900"/>
              <a:ext cx="5080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98" b="true">
                  <a:solidFill>
                    <a:srgbClr val="EF6A5B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CONNECTED PAIRS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6934200" y="161925"/>
              <a:ext cx="3302000" cy="1362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125"/>
                </a:lnSpc>
              </a:pPr>
              <a:r>
                <a:rPr lang="en-US" sz="7500">
                  <a:solidFill>
                    <a:srgbClr val="EF6A5B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7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6934200" y="1358900"/>
              <a:ext cx="5461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98" b="true">
                  <a:solidFill>
                    <a:srgbClr val="EF6A5B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MEDIAN COLLABORATORS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2903200" y="161925"/>
              <a:ext cx="3810000" cy="1362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125"/>
                </a:lnSpc>
              </a:pPr>
              <a:r>
                <a:rPr lang="en-US" sz="7500">
                  <a:solidFill>
                    <a:srgbClr val="EF6A5B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140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2903200" y="1358900"/>
              <a:ext cx="4826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98" b="true">
                  <a:solidFill>
                    <a:srgbClr val="EF6A5B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SOLO-ONLY ARTISTS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915650" y="6105525"/>
            <a:ext cx="6076950" cy="2457450"/>
            <a:chOff x="0" y="0"/>
            <a:chExt cx="8102600" cy="3276600"/>
          </a:xfrm>
        </p:grpSpPr>
        <p:sp>
          <p:nvSpPr>
            <p:cNvPr name="AutoShape 16" id="16"/>
            <p:cNvSpPr/>
            <p:nvPr/>
          </p:nvSpPr>
          <p:spPr>
            <a:xfrm flipV="true">
              <a:off x="304800" y="304800"/>
              <a:ext cx="2159000" cy="889000"/>
            </a:xfrm>
            <a:prstGeom prst="line">
              <a:avLst/>
            </a:prstGeom>
            <a:ln cap="rnd" w="38100">
              <a:solidFill>
                <a:srgbClr val="9FC7B8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7" id="17"/>
            <p:cNvSpPr/>
            <p:nvPr/>
          </p:nvSpPr>
          <p:spPr>
            <a:xfrm>
              <a:off x="2463800" y="304800"/>
              <a:ext cx="2222500" cy="889000"/>
            </a:xfrm>
            <a:prstGeom prst="line">
              <a:avLst/>
            </a:prstGeom>
            <a:ln cap="rnd" w="101600">
              <a:solidFill>
                <a:srgbClr val="EF6A5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8" id="18"/>
            <p:cNvSpPr/>
            <p:nvPr/>
          </p:nvSpPr>
          <p:spPr>
            <a:xfrm>
              <a:off x="2463800" y="304800"/>
              <a:ext cx="1079500" cy="2667000"/>
            </a:xfrm>
            <a:prstGeom prst="line">
              <a:avLst/>
            </a:prstGeom>
            <a:ln cap="rnd" w="38100">
              <a:solidFill>
                <a:srgbClr val="9FC7B8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9" id="19"/>
            <p:cNvSpPr/>
            <p:nvPr/>
          </p:nvSpPr>
          <p:spPr>
            <a:xfrm>
              <a:off x="4686300" y="1193800"/>
              <a:ext cx="1587500" cy="1778000"/>
            </a:xfrm>
            <a:prstGeom prst="line">
              <a:avLst/>
            </a:prstGeom>
            <a:ln cap="rnd" w="38100">
              <a:solidFill>
                <a:srgbClr val="9FC7B8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0" id="20"/>
            <p:cNvSpPr/>
            <p:nvPr/>
          </p:nvSpPr>
          <p:spPr>
            <a:xfrm flipV="true">
              <a:off x="4686300" y="749300"/>
              <a:ext cx="3111500" cy="444500"/>
            </a:xfrm>
            <a:prstGeom prst="line">
              <a:avLst/>
            </a:prstGeom>
            <a:ln cap="rnd" w="38100">
              <a:solidFill>
                <a:srgbClr val="9FC7B8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1" id="21"/>
            <p:cNvSpPr/>
            <p:nvPr/>
          </p:nvSpPr>
          <p:spPr>
            <a:xfrm>
              <a:off x="3543300" y="2971800"/>
              <a:ext cx="2730500" cy="0"/>
            </a:xfrm>
            <a:prstGeom prst="line">
              <a:avLst/>
            </a:prstGeom>
            <a:ln cap="rnd" w="38100">
              <a:solidFill>
                <a:srgbClr val="9FC7B8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22" id="22"/>
            <p:cNvGrpSpPr/>
            <p:nvPr/>
          </p:nvGrpSpPr>
          <p:grpSpPr>
            <a:xfrm rot="0">
              <a:off x="0" y="889000"/>
              <a:ext cx="609600" cy="609600"/>
              <a:chOff x="0" y="0"/>
              <a:chExt cx="609600" cy="6096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09600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609600">
                    <a:moveTo>
                      <a:pt x="304800" y="0"/>
                    </a:moveTo>
                    <a:cubicBezTo>
                      <a:pt x="473136" y="0"/>
                      <a:pt x="609600" y="136464"/>
                      <a:pt x="609600" y="304800"/>
                    </a:cubicBezTo>
                    <a:cubicBezTo>
                      <a:pt x="609600" y="473136"/>
                      <a:pt x="473136" y="609600"/>
                      <a:pt x="304800" y="609600"/>
                    </a:cubicBezTo>
                    <a:cubicBezTo>
                      <a:pt x="136464" y="609600"/>
                      <a:pt x="0" y="473136"/>
                      <a:pt x="0" y="304800"/>
                    </a:cubicBezTo>
                    <a:cubicBezTo>
                      <a:pt x="0" y="136464"/>
                      <a:pt x="136464" y="0"/>
                      <a:pt x="304800" y="0"/>
                    </a:cubicBezTo>
                    <a:close/>
                  </a:path>
                </a:pathLst>
              </a:custGeom>
              <a:solidFill>
                <a:srgbClr val="F6F0DF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24" id="24"/>
            <p:cNvGrpSpPr/>
            <p:nvPr/>
          </p:nvGrpSpPr>
          <p:grpSpPr>
            <a:xfrm rot="0">
              <a:off x="2159000" y="0"/>
              <a:ext cx="609600" cy="609600"/>
              <a:chOff x="0" y="0"/>
              <a:chExt cx="609600" cy="6096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609600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609600">
                    <a:moveTo>
                      <a:pt x="304800" y="0"/>
                    </a:moveTo>
                    <a:cubicBezTo>
                      <a:pt x="473136" y="0"/>
                      <a:pt x="609600" y="136464"/>
                      <a:pt x="609600" y="304800"/>
                    </a:cubicBezTo>
                    <a:cubicBezTo>
                      <a:pt x="609600" y="473136"/>
                      <a:pt x="473136" y="609600"/>
                      <a:pt x="304800" y="609600"/>
                    </a:cubicBezTo>
                    <a:cubicBezTo>
                      <a:pt x="136464" y="609600"/>
                      <a:pt x="0" y="473136"/>
                      <a:pt x="0" y="304800"/>
                    </a:cubicBezTo>
                    <a:cubicBezTo>
                      <a:pt x="0" y="136464"/>
                      <a:pt x="136464" y="0"/>
                      <a:pt x="304800" y="0"/>
                    </a:cubicBezTo>
                    <a:close/>
                  </a:path>
                </a:pathLst>
              </a:custGeom>
              <a:solidFill>
                <a:srgbClr val="EF6A5B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26" id="26"/>
            <p:cNvGrpSpPr/>
            <p:nvPr/>
          </p:nvGrpSpPr>
          <p:grpSpPr>
            <a:xfrm rot="0">
              <a:off x="4381500" y="889000"/>
              <a:ext cx="609600" cy="609600"/>
              <a:chOff x="0" y="0"/>
              <a:chExt cx="609600" cy="6096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609600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609600">
                    <a:moveTo>
                      <a:pt x="304800" y="0"/>
                    </a:moveTo>
                    <a:cubicBezTo>
                      <a:pt x="473136" y="0"/>
                      <a:pt x="609600" y="136464"/>
                      <a:pt x="609600" y="304800"/>
                    </a:cubicBezTo>
                    <a:cubicBezTo>
                      <a:pt x="609600" y="473136"/>
                      <a:pt x="473136" y="609600"/>
                      <a:pt x="304800" y="609600"/>
                    </a:cubicBezTo>
                    <a:cubicBezTo>
                      <a:pt x="136464" y="609600"/>
                      <a:pt x="0" y="473136"/>
                      <a:pt x="0" y="304800"/>
                    </a:cubicBezTo>
                    <a:cubicBezTo>
                      <a:pt x="0" y="136464"/>
                      <a:pt x="136464" y="0"/>
                      <a:pt x="304800" y="0"/>
                    </a:cubicBezTo>
                    <a:close/>
                  </a:path>
                </a:pathLst>
              </a:custGeom>
              <a:solidFill>
                <a:srgbClr val="F6F0DF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28" id="28"/>
            <p:cNvGrpSpPr/>
            <p:nvPr/>
          </p:nvGrpSpPr>
          <p:grpSpPr>
            <a:xfrm rot="0">
              <a:off x="3238500" y="2667000"/>
              <a:ext cx="609600" cy="609600"/>
              <a:chOff x="0" y="0"/>
              <a:chExt cx="609600" cy="6096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609600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609600">
                    <a:moveTo>
                      <a:pt x="304800" y="0"/>
                    </a:moveTo>
                    <a:cubicBezTo>
                      <a:pt x="473136" y="0"/>
                      <a:pt x="609600" y="136464"/>
                      <a:pt x="609600" y="304800"/>
                    </a:cubicBezTo>
                    <a:cubicBezTo>
                      <a:pt x="609600" y="473136"/>
                      <a:pt x="473136" y="609600"/>
                      <a:pt x="304800" y="609600"/>
                    </a:cubicBezTo>
                    <a:cubicBezTo>
                      <a:pt x="136464" y="609600"/>
                      <a:pt x="0" y="473136"/>
                      <a:pt x="0" y="304800"/>
                    </a:cubicBezTo>
                    <a:cubicBezTo>
                      <a:pt x="0" y="136464"/>
                      <a:pt x="136464" y="0"/>
                      <a:pt x="304800" y="0"/>
                    </a:cubicBezTo>
                    <a:close/>
                  </a:path>
                </a:pathLst>
              </a:custGeom>
              <a:solidFill>
                <a:srgbClr val="F6F0DF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30" id="30"/>
            <p:cNvGrpSpPr/>
            <p:nvPr/>
          </p:nvGrpSpPr>
          <p:grpSpPr>
            <a:xfrm rot="0">
              <a:off x="5969000" y="2667000"/>
              <a:ext cx="609600" cy="609600"/>
              <a:chOff x="0" y="0"/>
              <a:chExt cx="609600" cy="6096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609600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609600">
                    <a:moveTo>
                      <a:pt x="304800" y="0"/>
                    </a:moveTo>
                    <a:cubicBezTo>
                      <a:pt x="473136" y="0"/>
                      <a:pt x="609600" y="136464"/>
                      <a:pt x="609600" y="304800"/>
                    </a:cubicBezTo>
                    <a:cubicBezTo>
                      <a:pt x="609600" y="473136"/>
                      <a:pt x="473136" y="609600"/>
                      <a:pt x="304800" y="609600"/>
                    </a:cubicBezTo>
                    <a:cubicBezTo>
                      <a:pt x="136464" y="609600"/>
                      <a:pt x="0" y="473136"/>
                      <a:pt x="0" y="304800"/>
                    </a:cubicBezTo>
                    <a:cubicBezTo>
                      <a:pt x="0" y="136464"/>
                      <a:pt x="136464" y="0"/>
                      <a:pt x="304800" y="0"/>
                    </a:cubicBezTo>
                    <a:close/>
                  </a:path>
                </a:pathLst>
              </a:custGeom>
              <a:solidFill>
                <a:srgbClr val="F6F0DF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32" id="32"/>
            <p:cNvGrpSpPr/>
            <p:nvPr/>
          </p:nvGrpSpPr>
          <p:grpSpPr>
            <a:xfrm rot="0">
              <a:off x="7493000" y="444500"/>
              <a:ext cx="609600" cy="609600"/>
              <a:chOff x="0" y="0"/>
              <a:chExt cx="609600" cy="6096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609600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609600">
                    <a:moveTo>
                      <a:pt x="304800" y="0"/>
                    </a:moveTo>
                    <a:cubicBezTo>
                      <a:pt x="473136" y="0"/>
                      <a:pt x="609600" y="136464"/>
                      <a:pt x="609600" y="304800"/>
                    </a:cubicBezTo>
                    <a:cubicBezTo>
                      <a:pt x="609600" y="473136"/>
                      <a:pt x="473136" y="609600"/>
                      <a:pt x="304800" y="609600"/>
                    </a:cubicBezTo>
                    <a:cubicBezTo>
                      <a:pt x="136464" y="609600"/>
                      <a:pt x="0" y="473136"/>
                      <a:pt x="0" y="304800"/>
                    </a:cubicBezTo>
                    <a:cubicBezTo>
                      <a:pt x="0" y="136464"/>
                      <a:pt x="136464" y="0"/>
                      <a:pt x="304800" y="0"/>
                    </a:cubicBezTo>
                    <a:close/>
                  </a:path>
                </a:pathLst>
              </a:custGeom>
              <a:solidFill>
                <a:srgbClr val="F6F0DF"/>
              </a:solidFill>
              <a:ln cap="sq">
                <a:noFill/>
                <a:prstDash val="solid"/>
                <a:miter/>
              </a:ln>
            </p:spPr>
          </p:sp>
        </p:grpSp>
      </p:grpSp>
      <p:grpSp>
        <p:nvGrpSpPr>
          <p:cNvPr name="Group 34" id="34"/>
          <p:cNvGrpSpPr/>
          <p:nvPr/>
        </p:nvGrpSpPr>
        <p:grpSpPr>
          <a:xfrm rot="0">
            <a:off x="990600" y="9715500"/>
            <a:ext cx="16249650" cy="203835"/>
            <a:chOff x="0" y="0"/>
            <a:chExt cx="21666200" cy="271780"/>
          </a:xfrm>
        </p:grpSpPr>
        <p:sp>
          <p:nvSpPr>
            <p:cNvPr name="TextBox 35" id="35"/>
            <p:cNvSpPr txBox="true"/>
            <p:nvPr/>
          </p:nvSpPr>
          <p:spPr>
            <a:xfrm rot="0">
              <a:off x="0" y="-28575"/>
              <a:ext cx="10160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08">
                  <a:solidFill>
                    <a:srgbClr val="9FC7B8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BGG ARTISTS / EXPLORATORY ANALYSIS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20396200" y="-28575"/>
              <a:ext cx="1270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889"/>
                </a:lnSpc>
              </a:pPr>
              <a:r>
                <a:rPr lang="en-US" sz="1350">
                  <a:solidFill>
                    <a:srgbClr val="9FC7B8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07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6F0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3350"/>
            <a:chOff x="0" y="0"/>
            <a:chExt cx="24384000" cy="177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77800"/>
            </a:xfrm>
            <a:custGeom>
              <a:avLst/>
              <a:gdLst/>
              <a:ahLst/>
              <a:cxnLst/>
              <a:rect r="r" b="b" t="t" l="l"/>
              <a:pathLst>
                <a:path h="177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EF6A5B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90600" y="628650"/>
            <a:ext cx="6667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EF6A5B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07 / PROXY FOR TIME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90600" y="1266825"/>
            <a:ext cx="12858750" cy="675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9"/>
              </a:lnSpc>
            </a:pPr>
            <a:r>
              <a:rPr lang="en-US" sz="4950">
                <a:solidFill>
                  <a:srgbClr val="123534"/>
                </a:solidFill>
                <a:latin typeface="Archivo Black"/>
                <a:ea typeface="Archivo Black"/>
                <a:cs typeface="Archivo Black"/>
                <a:sym typeface="Archivo Black"/>
              </a:rPr>
              <a:t>BGGId thirds approximate eras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0600" y="2200275"/>
            <a:ext cx="11430000" cy="739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175">
                <a:solidFill>
                  <a:srgbClr val="123534"/>
                </a:solidFill>
                <a:latin typeface="DM Sans"/>
                <a:ea typeface="DM Sans"/>
                <a:cs typeface="DM Sans"/>
                <a:sym typeface="DM Sans"/>
              </a:rPr>
              <a:t>IDs were assigned roughly in order of addition. Splitting the ordered IDs into thirds offers a useful exploratory proxy — not a publication-date timeline.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0600" y="4762500"/>
            <a:ext cx="15725775" cy="2095500"/>
            <a:chOff x="0" y="0"/>
            <a:chExt cx="20967700" cy="279400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6350000" cy="2794000"/>
              <a:chOff x="0" y="0"/>
              <a:chExt cx="6350000" cy="2794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350000" cy="2794000"/>
              </a:xfrm>
              <a:custGeom>
                <a:avLst/>
                <a:gdLst/>
                <a:ahLst/>
                <a:cxnLst/>
                <a:rect r="r" b="b" t="t" l="l"/>
                <a:pathLst>
                  <a:path h="2794000" w="6350000">
                    <a:moveTo>
                      <a:pt x="0" y="0"/>
                    </a:moveTo>
                    <a:lnTo>
                      <a:pt x="6350000" y="0"/>
                    </a:lnTo>
                    <a:lnTo>
                      <a:pt x="6350000" y="2794000"/>
                    </a:lnTo>
                    <a:lnTo>
                      <a:pt x="0" y="2794000"/>
                    </a:lnTo>
                    <a:close/>
                  </a:path>
                </a:pathLst>
              </a:custGeom>
              <a:solidFill>
                <a:srgbClr val="073B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6350000" cy="283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7315200" y="0"/>
              <a:ext cx="6350000" cy="2794000"/>
              <a:chOff x="0" y="0"/>
              <a:chExt cx="6350000" cy="27940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6350000" cy="2794000"/>
              </a:xfrm>
              <a:custGeom>
                <a:avLst/>
                <a:gdLst/>
                <a:ahLst/>
                <a:cxnLst/>
                <a:rect r="r" b="b" t="t" l="l"/>
                <a:pathLst>
                  <a:path h="2794000" w="6350000">
                    <a:moveTo>
                      <a:pt x="0" y="0"/>
                    </a:moveTo>
                    <a:lnTo>
                      <a:pt x="6350000" y="0"/>
                    </a:lnTo>
                    <a:lnTo>
                      <a:pt x="6350000" y="2794000"/>
                    </a:lnTo>
                    <a:lnTo>
                      <a:pt x="0" y="2794000"/>
                    </a:lnTo>
                    <a:close/>
                  </a:path>
                </a:pathLst>
              </a:custGeom>
              <a:solidFill>
                <a:srgbClr val="9FC7B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6350000" cy="283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4617700" y="0"/>
              <a:ext cx="6350000" cy="2794000"/>
              <a:chOff x="0" y="0"/>
              <a:chExt cx="6350000" cy="27940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6350000" cy="2794000"/>
              </a:xfrm>
              <a:custGeom>
                <a:avLst/>
                <a:gdLst/>
                <a:ahLst/>
                <a:cxnLst/>
                <a:rect r="r" b="b" t="t" l="l"/>
                <a:pathLst>
                  <a:path h="2794000" w="6350000">
                    <a:moveTo>
                      <a:pt x="0" y="0"/>
                    </a:moveTo>
                    <a:lnTo>
                      <a:pt x="6350000" y="0"/>
                    </a:lnTo>
                    <a:lnTo>
                      <a:pt x="6350000" y="2794000"/>
                    </a:lnTo>
                    <a:lnTo>
                      <a:pt x="0" y="2794000"/>
                    </a:lnTo>
                    <a:close/>
                  </a:path>
                </a:pathLst>
              </a:custGeom>
              <a:solidFill>
                <a:srgbClr val="EF6A5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6350000" cy="283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431800" y="358775"/>
              <a:ext cx="5080000" cy="7486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20"/>
                </a:lnSpc>
              </a:pPr>
              <a:r>
                <a:rPr lang="en-US" sz="3300">
                  <a:solidFill>
                    <a:srgbClr val="FFFAF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EARLY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431800" y="1485900"/>
              <a:ext cx="5334000" cy="439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025">
                  <a:solidFill>
                    <a:srgbClr val="FFFAF0"/>
                  </a:solidFill>
                  <a:latin typeface="DM Sans"/>
                  <a:ea typeface="DM Sans"/>
                  <a:cs typeface="DM Sans"/>
                  <a:sym typeface="DM Sans"/>
                </a:rPr>
                <a:t>Established catalogs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7747000" y="358775"/>
              <a:ext cx="5080000" cy="7486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20"/>
                </a:lnSpc>
              </a:pPr>
              <a:r>
                <a:rPr lang="en-US" sz="3300">
                  <a:solidFill>
                    <a:srgbClr val="123534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MIDDLE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7747000" y="1485900"/>
              <a:ext cx="5334000" cy="439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025">
                  <a:solidFill>
                    <a:srgbClr val="123534"/>
                  </a:solidFill>
                  <a:latin typeface="DM Sans"/>
                  <a:ea typeface="DM Sans"/>
                  <a:cs typeface="DM Sans"/>
                  <a:sym typeface="DM Sans"/>
                </a:rPr>
                <a:t>Expanding credits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15049500" y="358775"/>
              <a:ext cx="5080000" cy="7486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20"/>
                </a:lnSpc>
              </a:pPr>
              <a:r>
                <a:rPr lang="en-US" sz="3300">
                  <a:solidFill>
                    <a:srgbClr val="FFFAF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RECENT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15049500" y="1485900"/>
              <a:ext cx="5334000" cy="439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025">
                  <a:solidFill>
                    <a:srgbClr val="FFFAF0"/>
                  </a:solidFill>
                  <a:latin typeface="DM Sans"/>
                  <a:ea typeface="DM Sans"/>
                  <a:cs typeface="DM Sans"/>
                  <a:sym typeface="DM Sans"/>
                </a:rPr>
                <a:t>More one-off artists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990600" y="7658100"/>
            <a:ext cx="10953750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123534"/>
                </a:solidFill>
                <a:latin typeface="Archivo Black"/>
                <a:ea typeface="Archivo Black"/>
                <a:cs typeface="Archivo Black"/>
                <a:sym typeface="Archivo Black"/>
              </a:rPr>
              <a:t>Use metadata joins to test this properly by release year.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90600" y="9715500"/>
            <a:ext cx="16249650" cy="203835"/>
            <a:chOff x="0" y="0"/>
            <a:chExt cx="21666200" cy="271780"/>
          </a:xfrm>
        </p:grpSpPr>
        <p:sp>
          <p:nvSpPr>
            <p:cNvPr name="TextBox 26" id="26"/>
            <p:cNvSpPr txBox="true"/>
            <p:nvPr/>
          </p:nvSpPr>
          <p:spPr>
            <a:xfrm rot="0">
              <a:off x="0" y="-28575"/>
              <a:ext cx="10160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08">
                  <a:solidFill>
                    <a:srgbClr val="123534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BGG ARTISTS / EXPLORATORY ANALYSIS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20396200" y="-28575"/>
              <a:ext cx="1270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889"/>
                </a:lnSpc>
              </a:pPr>
              <a:r>
                <a:rPr lang="en-US" sz="1350">
                  <a:solidFill>
                    <a:srgbClr val="123534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08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6F0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3350"/>
            <a:chOff x="0" y="0"/>
            <a:chExt cx="24384000" cy="177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77800"/>
            </a:xfrm>
            <a:custGeom>
              <a:avLst/>
              <a:gdLst/>
              <a:ahLst/>
              <a:cxnLst/>
              <a:rect r="r" b="b" t="t" l="l"/>
              <a:pathLst>
                <a:path h="177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EF6A5B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90600" y="628650"/>
            <a:ext cx="6667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EF6A5B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08 / NEXT QUESTIONS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90600" y="1266825"/>
            <a:ext cx="13335000" cy="675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9"/>
              </a:lnSpc>
            </a:pPr>
            <a:r>
              <a:rPr lang="en-US" sz="4950">
                <a:solidFill>
                  <a:srgbClr val="123534"/>
                </a:solidFill>
                <a:latin typeface="Archivo Black"/>
                <a:ea typeface="Archivo Black"/>
                <a:cs typeface="Archivo Black"/>
                <a:sym typeface="Archivo Black"/>
              </a:rPr>
              <a:t>Join the matrix to meaning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0600" y="2200275"/>
            <a:ext cx="10001250" cy="739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175">
                <a:solidFill>
                  <a:srgbClr val="123534"/>
                </a:solidFill>
                <a:latin typeface="DM Sans"/>
                <a:ea typeface="DM Sans"/>
                <a:cs typeface="DM Sans"/>
                <a:sym typeface="DM Sans"/>
              </a:rPr>
              <a:t>The artist matrix becomes far more valuable when connected to game metadata.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0600" y="4000500"/>
            <a:ext cx="15859125" cy="3714750"/>
            <a:chOff x="0" y="0"/>
            <a:chExt cx="21145500" cy="495300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6540500" cy="4953000"/>
              <a:chOff x="0" y="0"/>
              <a:chExt cx="6540500" cy="4953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540500" cy="4953000"/>
              </a:xfrm>
              <a:custGeom>
                <a:avLst/>
                <a:gdLst/>
                <a:ahLst/>
                <a:cxnLst/>
                <a:rect r="r" b="b" t="t" l="l"/>
                <a:pathLst>
                  <a:path h="4953000" w="6540500">
                    <a:moveTo>
                      <a:pt x="0" y="0"/>
                    </a:moveTo>
                    <a:lnTo>
                      <a:pt x="6540500" y="0"/>
                    </a:lnTo>
                    <a:lnTo>
                      <a:pt x="6540500" y="4953000"/>
                    </a:lnTo>
                    <a:lnTo>
                      <a:pt x="0" y="4953000"/>
                    </a:ln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6540500" cy="499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7302500" y="0"/>
              <a:ext cx="6540500" cy="4953000"/>
              <a:chOff x="0" y="0"/>
              <a:chExt cx="6540500" cy="49530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6540500" cy="4953000"/>
              </a:xfrm>
              <a:custGeom>
                <a:avLst/>
                <a:gdLst/>
                <a:ahLst/>
                <a:cxnLst/>
                <a:rect r="r" b="b" t="t" l="l"/>
                <a:pathLst>
                  <a:path h="4953000" w="6540500">
                    <a:moveTo>
                      <a:pt x="0" y="0"/>
                    </a:moveTo>
                    <a:lnTo>
                      <a:pt x="6540500" y="0"/>
                    </a:lnTo>
                    <a:lnTo>
                      <a:pt x="6540500" y="4953000"/>
                    </a:lnTo>
                    <a:lnTo>
                      <a:pt x="0" y="4953000"/>
                    </a:lnTo>
                    <a:close/>
                  </a:path>
                </a:pathLst>
              </a:custGeom>
              <a:solidFill>
                <a:srgbClr val="073B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6540500" cy="499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4605000" y="0"/>
              <a:ext cx="6540500" cy="4953000"/>
              <a:chOff x="0" y="0"/>
              <a:chExt cx="6540500" cy="49530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6540500" cy="4953000"/>
              </a:xfrm>
              <a:custGeom>
                <a:avLst/>
                <a:gdLst/>
                <a:ahLst/>
                <a:cxnLst/>
                <a:rect r="r" b="b" t="t" l="l"/>
                <a:pathLst>
                  <a:path h="4953000" w="6540500">
                    <a:moveTo>
                      <a:pt x="0" y="0"/>
                    </a:moveTo>
                    <a:lnTo>
                      <a:pt x="6540500" y="0"/>
                    </a:lnTo>
                    <a:lnTo>
                      <a:pt x="6540500" y="4953000"/>
                    </a:lnTo>
                    <a:lnTo>
                      <a:pt x="0" y="4953000"/>
                    </a:lnTo>
                    <a:close/>
                  </a:path>
                </a:pathLst>
              </a:custGeom>
              <a:solidFill>
                <a:srgbClr val="DCCFB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6540500" cy="499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444500" y="358775"/>
              <a:ext cx="1270000" cy="4489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025">
                  <a:solidFill>
                    <a:srgbClr val="EF6A5B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01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444500" y="1149350"/>
              <a:ext cx="5588000" cy="13296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94"/>
                </a:lnSpc>
              </a:pPr>
              <a:r>
                <a:rPr lang="en-US" sz="2925">
                  <a:solidFill>
                    <a:srgbClr val="123534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Genres &amp; mechanisms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444500" y="2701925"/>
              <a:ext cx="5524500" cy="1238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123534"/>
                  </a:solidFill>
                  <a:latin typeface="DM Sans"/>
                  <a:ea typeface="DM Sans"/>
                  <a:cs typeface="DM Sans"/>
                  <a:sym typeface="DM Sans"/>
                </a:rPr>
                <a:t>Which artist communities specialize in wargames, family games, or abstract strategy?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7747000" y="358775"/>
              <a:ext cx="1270000" cy="4489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025">
                  <a:solidFill>
                    <a:srgbClr val="EF6A5B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02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7747000" y="1149350"/>
              <a:ext cx="5588000" cy="13296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94"/>
                </a:lnSpc>
              </a:pPr>
              <a:r>
                <a:rPr lang="en-US" sz="2925">
                  <a:solidFill>
                    <a:srgbClr val="FFFAF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Publishers &amp; geography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7747000" y="2701925"/>
              <a:ext cx="5524500" cy="819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FFFAF0"/>
                  </a:solidFill>
                  <a:latin typeface="DM Sans"/>
                  <a:ea typeface="DM Sans"/>
                  <a:cs typeface="DM Sans"/>
                  <a:sym typeface="DM Sans"/>
                </a:rPr>
                <a:t>Who repeatedly works with whom — and across which markets?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15049500" y="358775"/>
              <a:ext cx="1270000" cy="4489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025">
                  <a:solidFill>
                    <a:srgbClr val="EF6A5B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03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15049500" y="1149350"/>
              <a:ext cx="5588000" cy="6438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94"/>
                </a:lnSpc>
              </a:pPr>
              <a:r>
                <a:rPr lang="en-US" sz="2925">
                  <a:solidFill>
                    <a:srgbClr val="123534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Careers over time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15049500" y="2701925"/>
              <a:ext cx="5524500" cy="819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123534"/>
                  </a:solidFill>
                  <a:latin typeface="DM Sans"/>
                  <a:ea typeface="DM Sans"/>
                  <a:cs typeface="DM Sans"/>
                  <a:sym typeface="DM Sans"/>
                </a:rPr>
                <a:t>Measure entry, longevity, one-off work, and durable partnerships.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90600" y="9715500"/>
            <a:ext cx="16249650" cy="203835"/>
            <a:chOff x="0" y="0"/>
            <a:chExt cx="21666200" cy="271780"/>
          </a:xfrm>
        </p:grpSpPr>
        <p:sp>
          <p:nvSpPr>
            <p:cNvPr name="TextBox 28" id="28"/>
            <p:cNvSpPr txBox="true"/>
            <p:nvPr/>
          </p:nvSpPr>
          <p:spPr>
            <a:xfrm rot="0">
              <a:off x="0" y="-28575"/>
              <a:ext cx="10160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08">
                  <a:solidFill>
                    <a:srgbClr val="123534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BGG ARTISTS / EXPLORATORY ANALYSIS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20396200" y="-28575"/>
              <a:ext cx="1270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889"/>
                </a:lnSpc>
              </a:pPr>
              <a:r>
                <a:rPr lang="en-US" sz="1350">
                  <a:solidFill>
                    <a:srgbClr val="123534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09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3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668000" y="0"/>
            <a:ext cx="7620000" cy="10287000"/>
          </a:xfrm>
          <a:custGeom>
            <a:avLst/>
            <a:gdLst/>
            <a:ahLst/>
            <a:cxnLst/>
            <a:rect r="r" b="b" t="t" l="l"/>
            <a:pathLst>
              <a:path h="10287000" w="7620000">
                <a:moveTo>
                  <a:pt x="0" y="0"/>
                </a:moveTo>
                <a:lnTo>
                  <a:pt x="7620000" y="0"/>
                </a:lnTo>
                <a:lnTo>
                  <a:pt x="7620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0" r="0" b="-5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8572500" y="0"/>
            <a:ext cx="4762500" cy="10287000"/>
            <a:chOff x="0" y="0"/>
            <a:chExt cx="6350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350000">
                  <a:moveTo>
                    <a:pt x="0" y="0"/>
                  </a:moveTo>
                  <a:lnTo>
                    <a:pt x="6350000" y="0"/>
                  </a:lnTo>
                  <a:lnTo>
                    <a:pt x="6350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073B3A">
                    <a:alpha val="100000"/>
                  </a:srgbClr>
                </a:gs>
                <a:gs pos="100000">
                  <a:srgbClr val="073B3A">
                    <a:alpha val="0"/>
                  </a:srgbClr>
                </a:gs>
              </a:gsLst>
              <a:lin ang="162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350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133350"/>
            <a:chOff x="0" y="0"/>
            <a:chExt cx="24384000" cy="177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177800"/>
            </a:xfrm>
            <a:custGeom>
              <a:avLst/>
              <a:gdLst/>
              <a:ahLst/>
              <a:cxnLst/>
              <a:rect r="r" b="b" t="t" l="l"/>
              <a:pathLst>
                <a:path h="177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EF6A5B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43840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90600" y="628650"/>
            <a:ext cx="6667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EF6A5B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09 / READ WITH CARE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0600" y="1504950"/>
            <a:ext cx="10001250" cy="1313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9"/>
              </a:lnSpc>
            </a:pPr>
            <a:r>
              <a:rPr lang="en-US" sz="4950">
                <a:solidFill>
                  <a:srgbClr val="FFFAF0"/>
                </a:solidFill>
                <a:latin typeface="Archivo Black"/>
                <a:ea typeface="Archivo Black"/>
                <a:cs typeface="Archivo Black"/>
                <a:sym typeface="Archivo Black"/>
              </a:rPr>
              <a:t>Clean matrix.</a:t>
            </a:r>
          </a:p>
          <a:p>
            <a:pPr algn="l">
              <a:lnSpc>
                <a:spcPts val="5049"/>
              </a:lnSpc>
            </a:pPr>
            <a:r>
              <a:rPr lang="en-US" sz="4950">
                <a:solidFill>
                  <a:srgbClr val="FFFAF0"/>
                </a:solidFill>
                <a:latin typeface="Archivo Black"/>
                <a:ea typeface="Archivo Black"/>
                <a:cs typeface="Archivo Black"/>
                <a:sym typeface="Archivo Black"/>
              </a:rPr>
              <a:t>Uneven creative field.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0600" y="3819525"/>
            <a:ext cx="8572500" cy="1111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175">
                <a:solidFill>
                  <a:srgbClr val="FFFAF0"/>
                </a:solidFill>
                <a:latin typeface="DM Sans"/>
                <a:ea typeface="DM Sans"/>
                <a:cs typeface="DM Sans"/>
                <a:sym typeface="DM Sans"/>
              </a:rPr>
              <a:t>Credit is concentrated in a small core of prolific artists and long-running partnerships, especially in wargames; newer games appear to rely more on one-off artists.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0600" y="6200775"/>
            <a:ext cx="2857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EF6A5B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LIMITATIONS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0600" y="6638925"/>
            <a:ext cx="8667750" cy="935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FFFAF0"/>
                </a:solidFill>
                <a:latin typeface="DM Sans"/>
                <a:ea typeface="DM Sans"/>
                <a:cs typeface="DM Sans"/>
                <a:sym typeface="DM Sans"/>
              </a:rPr>
              <a:t>BGG coverage and credit practices vary. BGGId is only a rough time proxy. Names may contain aliases or homonyms. The matrix alone cannot explain genre, publisher, country, or release year.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0600" y="8572500"/>
            <a:ext cx="95250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EF6A5B"/>
                </a:solidFill>
                <a:latin typeface="Archivo Black"/>
                <a:ea typeface="Archivo Black"/>
                <a:cs typeface="Archivo Black"/>
                <a:sym typeface="Archivo Black"/>
              </a:rPr>
              <a:t>Its full value comes from joining it with game metadata.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90600" y="9715500"/>
            <a:ext cx="16249650" cy="203835"/>
            <a:chOff x="0" y="0"/>
            <a:chExt cx="21666200" cy="271780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28575"/>
              <a:ext cx="10160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08">
                  <a:solidFill>
                    <a:srgbClr val="9FC7B8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BGG ARTISTS / EXPLORATORY ANALYSIS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20396200" y="-28575"/>
              <a:ext cx="1270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889"/>
                </a:lnSpc>
              </a:pPr>
              <a:r>
                <a:rPr lang="en-US" sz="1350">
                  <a:solidFill>
                    <a:srgbClr val="9FC7B8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10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DAHWlz1el8Y</dc:identifier>
  <dcterms:modified xsi:type="dcterms:W3CDTF">2011-08-01T06:04:30Z</dcterms:modified>
  <cp:revision>1</cp:revision>
  <dc:title>Who Draws Board Games</dc:title>
</cp:coreProperties>
</file>