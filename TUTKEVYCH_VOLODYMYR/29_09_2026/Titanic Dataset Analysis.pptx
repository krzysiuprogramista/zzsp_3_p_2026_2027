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BM Plex Mono Bold" charset="1" panose="020B0809050203000203"/>
      <p:regular r:id="rId18"/>
    </p:embeddedFont>
    <p:embeddedFont>
      <p:font typeface="Libre Baskerville" charset="1" panose="02000000000000000000"/>
      <p:regular r:id="rId19"/>
    </p:embeddedFont>
    <p:embeddedFont>
      <p:font typeface="Aptos" charset="1" panose="020B0004020202020204"/>
      <p:regular r:id="rId20"/>
    </p:embeddedFont>
    <p:embeddedFont>
      <p:font typeface="IBM Plex Mono" charset="1" panose="020B0509050203000203"/>
      <p:regular r:id="rId21"/>
    </p:embeddedFont>
    <p:embeddedFont>
      <p:font typeface="Aptos Bold" charset="1" panose="020B00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000" y="0"/>
            <a:ext cx="8763000" cy="10287000"/>
          </a:xfrm>
          <a:custGeom>
            <a:avLst/>
            <a:gdLst/>
            <a:ahLst/>
            <a:cxnLst/>
            <a:rect r="r" b="b" t="t" l="l"/>
            <a:pathLst>
              <a:path h="10287000" w="8763000">
                <a:moveTo>
                  <a:pt x="0" y="0"/>
                </a:moveTo>
                <a:lnTo>
                  <a:pt x="8763000" y="0"/>
                </a:lnTo>
                <a:lnTo>
                  <a:pt x="8763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" r="0" b="-3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239000" y="0"/>
            <a:ext cx="11049000" cy="10287000"/>
            <a:chOff x="0" y="0"/>
            <a:chExt cx="14732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3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732000">
                  <a:moveTo>
                    <a:pt x="0" y="0"/>
                  </a:moveTo>
                  <a:lnTo>
                    <a:pt x="14732000" y="0"/>
                  </a:lnTo>
                  <a:lnTo>
                    <a:pt x="14732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101D2F">
                    <a:alpha val="32000"/>
                  </a:srgbClr>
                </a:gs>
                <a:gs pos="100000">
                  <a:srgbClr val="101D2F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73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7750" y="1095375"/>
            <a:ext cx="7239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AA845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EXPLORATORY DATA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2085975"/>
            <a:ext cx="8572500" cy="206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6"/>
              </a:lnSpc>
            </a:pPr>
            <a:r>
              <a:rPr lang="en-US" sz="7800">
                <a:solidFill>
                  <a:srgbClr val="FFFA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Titanic</a:t>
            </a:r>
          </a:p>
          <a:p>
            <a:pPr algn="l">
              <a:lnSpc>
                <a:spcPts val="7956"/>
              </a:lnSpc>
            </a:pPr>
            <a:r>
              <a:rPr lang="en-US" sz="7800">
                <a:solidFill>
                  <a:srgbClr val="FFFA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5238750"/>
            <a:ext cx="68580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FFFAF0"/>
                </a:solidFill>
                <a:latin typeface="Aptos"/>
                <a:ea typeface="Aptos"/>
                <a:cs typeface="Aptos"/>
                <a:sym typeface="Aptos"/>
              </a:rPr>
              <a:t>891 passenger records · 11 features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47750" y="7000875"/>
            <a:ext cx="3714750" cy="1163955"/>
            <a:chOff x="0" y="0"/>
            <a:chExt cx="4953000" cy="155194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23825"/>
              <a:ext cx="4953000" cy="1156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en-US" sz="6300">
                  <a:solidFill>
                    <a:srgbClr val="AA845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38.4%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241425"/>
              <a:ext cx="4064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SURVIVED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5715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AA845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 / THE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323975"/>
            <a:ext cx="114300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172335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compact classification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447925"/>
            <a:ext cx="933450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72335"/>
                </a:solidFill>
                <a:latin typeface="Aptos"/>
                <a:ea typeface="Aptos"/>
                <a:cs typeface="Aptos"/>
                <a:sym typeface="Aptos"/>
              </a:rPr>
              <a:t>PassengerId is the index. Survived is the target: 1 = survived, 0 = died. With 38.4% survivors, the classes are moderately imbalanced.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750" y="4905375"/>
            <a:ext cx="2857500" cy="1116330"/>
            <a:chOff x="0" y="0"/>
            <a:chExt cx="3810000" cy="14884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3825"/>
              <a:ext cx="3810000" cy="1156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en-US" sz="6300">
                  <a:solidFill>
                    <a:srgbClr val="AA845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891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77925"/>
              <a:ext cx="3810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PASSENGERS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53000" y="4905375"/>
            <a:ext cx="2286000" cy="1116330"/>
            <a:chOff x="0" y="0"/>
            <a:chExt cx="3048000" cy="148844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23825"/>
              <a:ext cx="3048000" cy="1156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en-US" sz="6300">
                  <a:solidFill>
                    <a:srgbClr val="AA845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77925"/>
              <a:ext cx="3048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FEATURES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96250" y="4905375"/>
            <a:ext cx="3333750" cy="1116330"/>
            <a:chOff x="0" y="0"/>
            <a:chExt cx="4445000" cy="148844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23825"/>
              <a:ext cx="4445000" cy="1156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en-US" sz="6300">
                  <a:solidFill>
                    <a:srgbClr val="AA845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38.4%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77925"/>
              <a:ext cx="3810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SURVIVED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954000" y="2095500"/>
            <a:ext cx="4286250" cy="6191250"/>
            <a:chOff x="0" y="0"/>
            <a:chExt cx="5715000" cy="825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DFD1B7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715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620750" y="2514600"/>
            <a:ext cx="3143250" cy="2869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172335"/>
                </a:solidFill>
                <a:latin typeface="IBM Plex Mono"/>
                <a:ea typeface="IBM Plex Mono"/>
                <a:cs typeface="IBM Plex Mono"/>
                <a:sym typeface="IBM Plex Mono"/>
              </a:rPr>
              <a:t>INDEX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172335"/>
                </a:solidFill>
                <a:latin typeface="IBM Plex Mono"/>
                <a:ea typeface="IBM Plex Mono"/>
                <a:cs typeface="IBM Plex Mono"/>
                <a:sym typeface="IBM Plex Mono"/>
              </a:rPr>
              <a:t>PassengerId</a:t>
            </a:r>
          </a:p>
          <a:p>
            <a:pPr algn="l">
              <a:lnSpc>
                <a:spcPts val="2906"/>
              </a:lnSpc>
            </a:pP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172335"/>
                </a:solidFill>
                <a:latin typeface="IBM Plex Mono"/>
                <a:ea typeface="IBM Plex Mono"/>
                <a:cs typeface="IBM Plex Mono"/>
                <a:sym typeface="IBM Plex Mono"/>
              </a:rPr>
              <a:t>TARGET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172335"/>
                </a:solidFill>
                <a:latin typeface="IBM Plex Mono"/>
                <a:ea typeface="IBM Plex Mono"/>
                <a:cs typeface="IBM Plex Mono"/>
                <a:sym typeface="IBM Plex Mono"/>
              </a:rPr>
              <a:t>Survived</a:t>
            </a:r>
          </a:p>
          <a:p>
            <a:pPr algn="l">
              <a:lnSpc>
                <a:spcPts val="2906"/>
              </a:lnSpc>
            </a:pP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172335"/>
                </a:solidFill>
                <a:latin typeface="IBM Plex Mono"/>
                <a:ea typeface="IBM Plex Mono"/>
                <a:cs typeface="IBM Plex Mono"/>
                <a:sym typeface="IBM Plex Mono"/>
              </a:rPr>
              <a:t>TASK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172335"/>
                </a:solidFill>
                <a:latin typeface="IBM Plex Mono"/>
                <a:ea typeface="IBM Plex Mono"/>
                <a:cs typeface="IBM Plex Mono"/>
                <a:sym typeface="IBM Plex Mono"/>
              </a:rPr>
              <a:t>Binary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3524250"/>
            <a:ext cx="4762500" cy="3143250"/>
            <a:chOff x="0" y="0"/>
            <a:chExt cx="6350000" cy="419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DFD1B7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50000" cy="422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62750" y="3524250"/>
            <a:ext cx="4762500" cy="3143250"/>
            <a:chOff x="0" y="0"/>
            <a:chExt cx="6350000" cy="419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101D2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350000" cy="422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77750" y="3524250"/>
            <a:ext cx="4762500" cy="3143250"/>
            <a:chOff x="0" y="0"/>
            <a:chExt cx="6350000" cy="419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DFD1B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50000" cy="422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7750" y="714375"/>
            <a:ext cx="5715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AA845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 / DATA QUALITY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1323975"/>
            <a:ext cx="104775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172335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What inspect() revealed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750" y="2257425"/>
            <a:ext cx="1000125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72335"/>
                </a:solidFill>
                <a:latin typeface="Aptos"/>
                <a:ea typeface="Aptos"/>
                <a:cs typeface="Aptos"/>
                <a:sym typeface="Aptos"/>
              </a:rPr>
              <a:t>The first pass establishes what can be trusted before any relationship is interpreted.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71625" y="3905250"/>
            <a:ext cx="3714750" cy="1171099"/>
            <a:chOff x="0" y="0"/>
            <a:chExt cx="4953000" cy="1561465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4953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STRUCTURE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69925"/>
              <a:ext cx="4953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335"/>
                  </a:solidFill>
                  <a:latin typeface="Aptos"/>
                  <a:ea typeface="Aptos"/>
                  <a:cs typeface="Aptos"/>
                  <a:sym typeface="Aptos"/>
                </a:rPr>
                <a:t>Shape, column names and data types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86625" y="3905250"/>
            <a:ext cx="3714750" cy="1171099"/>
            <a:chOff x="0" y="0"/>
            <a:chExt cx="4953000" cy="156146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28575"/>
              <a:ext cx="4953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COMPLETENESS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69925"/>
              <a:ext cx="4953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335"/>
                  </a:solidFill>
                  <a:latin typeface="Aptos"/>
                  <a:ea typeface="Aptos"/>
                  <a:cs typeface="Aptos"/>
                  <a:sym typeface="Aptos"/>
                </a:rPr>
                <a:t>Non-null counts expose missing fields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001625" y="3905250"/>
            <a:ext cx="3714750" cy="1171099"/>
            <a:chOff x="0" y="0"/>
            <a:chExt cx="4953000" cy="1561465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28575"/>
              <a:ext cx="4953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VALIDITY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669925"/>
              <a:ext cx="4953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335"/>
                  </a:solidFill>
                  <a:latin typeface="Aptos"/>
                  <a:ea typeface="Aptos"/>
                  <a:cs typeface="Aptos"/>
                  <a:sym typeface="Aptos"/>
                </a:rPr>
                <a:t>Ranges, categories and suspicious values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47750" y="7781925"/>
            <a:ext cx="1428750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72335"/>
                </a:solidFill>
                <a:latin typeface="Aptos"/>
                <a:ea typeface="Aptos"/>
                <a:cs typeface="Aptos"/>
                <a:sym typeface="Aptos"/>
              </a:rPr>
              <a:t>Next step: quantify missingness, confirm duplicates, then decide whether to impute, encode or exclude.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666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AA845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 / STRONGEST FACTOR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323975"/>
            <a:ext cx="93345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FFFA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Sex sets the baseline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400300"/>
            <a:ext cx="857250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AF0"/>
                </a:solidFill>
                <a:latin typeface="Aptos"/>
                <a:ea typeface="Aptos"/>
                <a:cs typeface="Aptos"/>
                <a:sym typeface="Aptos"/>
              </a:rPr>
              <a:t>A simple rule — “all women survive, all men die” — predicts 78.7% of outcomes. Any useful model must beat it.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750" y="6667500"/>
            <a:ext cx="4762500" cy="1211580"/>
            <a:chOff x="0" y="0"/>
            <a:chExt cx="6350000" cy="16154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3825"/>
              <a:ext cx="6350000" cy="1156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en-US" sz="6300">
                  <a:solidFill>
                    <a:srgbClr val="AA845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78.7%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304925"/>
              <a:ext cx="6350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BASELINE ACCURACY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627590" y="1426639"/>
            <a:ext cx="7986319" cy="73384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5715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AA845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 / TICKET CLASS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323975"/>
            <a:ext cx="1000125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172335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Survival falls with class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6667500"/>
            <a:ext cx="4000500" cy="1211580"/>
            <a:chOff x="0" y="0"/>
            <a:chExt cx="5334000" cy="161544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23825"/>
              <a:ext cx="4064000" cy="1156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en-US" sz="6300">
                  <a:solidFill>
                    <a:srgbClr val="AA845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55%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04925"/>
              <a:ext cx="5334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TRAVELLED 3RD CLASS</a:t>
              </a: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797107" y="1420936"/>
            <a:ext cx="14218036" cy="80166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5715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AA845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 / INTERACTION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323975"/>
            <a:ext cx="95250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172335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Sex and class together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41672" y="1074550"/>
            <a:ext cx="18218844" cy="7947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47750" y="8067675"/>
            <a:ext cx="1428750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72335"/>
                </a:solidFill>
                <a:latin typeface="Aptos"/>
                <a:ea typeface="Aptos"/>
                <a:cs typeface="Aptos"/>
                <a:sym typeface="Aptos"/>
              </a:rPr>
              <a:t>For women, class mattered greatly. For men, 1st class more than doubled the odds.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01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5715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AA845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 / AGE + TITLE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323975"/>
            <a:ext cx="114300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FFFA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Age matters — title sharpens it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429000"/>
            <a:ext cx="4191000" cy="1163955"/>
            <a:chOff x="0" y="0"/>
            <a:chExt cx="5588000" cy="155194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23825"/>
              <a:ext cx="4445000" cy="1156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en-US" sz="6300">
                  <a:solidFill>
                    <a:srgbClr val="AA845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58%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241425"/>
              <a:ext cx="5588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CHILDREN 12 AND UNDER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81750" y="3429000"/>
            <a:ext cx="4572000" cy="1163955"/>
            <a:chOff x="0" y="0"/>
            <a:chExt cx="6096000" cy="155194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23825"/>
              <a:ext cx="4953000" cy="1156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en-US" sz="6300">
                  <a:solidFill>
                    <a:srgbClr val="AA845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22.7%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241425"/>
              <a:ext cx="6096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OVER-60s · ONLY 22 PEOPLE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47750" y="5962650"/>
            <a:ext cx="9525000" cy="1584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600">
                <a:solidFill>
                  <a:srgbClr val="FFFA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Boys survived at almost</a:t>
            </a:r>
          </a:p>
          <a:p>
            <a:pPr algn="l">
              <a:lnSpc>
                <a:spcPts val="4140"/>
              </a:lnSpc>
            </a:pPr>
            <a:r>
              <a:rPr lang="en-US" sz="3600">
                <a:solidFill>
                  <a:srgbClr val="FFFA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four times the rate</a:t>
            </a:r>
          </a:p>
          <a:p>
            <a:pPr algn="l">
              <a:lnSpc>
                <a:spcPts val="4140"/>
              </a:lnSpc>
            </a:pPr>
            <a:r>
              <a:rPr lang="en-US" sz="3600">
                <a:solidFill>
                  <a:srgbClr val="FFFA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of adult men.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001500" y="5905500"/>
            <a:ext cx="76200" cy="1809750"/>
            <a:chOff x="0" y="0"/>
            <a:chExt cx="101600" cy="241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AA845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16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573000" y="6686550"/>
            <a:ext cx="37147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AA845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TITLE CAPTURES THE AGE EFFECT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5715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AA845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 / FAMILY SIZE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323975"/>
            <a:ext cx="114300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172335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relationship is non-linear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352675"/>
            <a:ext cx="1095375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72335"/>
                </a:solidFill>
                <a:latin typeface="Aptos"/>
                <a:ea typeface="Aptos"/>
                <a:cs typeface="Aptos"/>
                <a:sym typeface="Aptos"/>
              </a:rPr>
              <a:t>Survival peaks in the middle. Treating family size as a straight numeric effect hides the pattern; grouped bands are more useful.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14500" y="6572250"/>
            <a:ext cx="3429000" cy="1428750"/>
            <a:chOff x="0" y="0"/>
            <a:chExt cx="4572000" cy="1905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841500"/>
                  </a:lnTo>
                  <a:cubicBezTo>
                    <a:pt x="4572000" y="1876570"/>
                    <a:pt x="4543570" y="1905000"/>
                    <a:pt x="4508500" y="1905000"/>
                  </a:cubicBezTo>
                  <a:lnTo>
                    <a:pt x="63500" y="1905000"/>
                  </a:lnTo>
                  <a:cubicBezTo>
                    <a:pt x="28430" y="1905000"/>
                    <a:pt x="0" y="1876570"/>
                    <a:pt x="0" y="184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DFD1B7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572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800" b="true">
                  <a:solidFill>
                    <a:srgbClr val="17233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ALONE</a:t>
              </a:r>
            </a:p>
            <a:p>
              <a:pPr algn="ctr">
                <a:lnSpc>
                  <a:spcPts val="2340"/>
                </a:lnSpc>
              </a:pPr>
              <a:r>
                <a:rPr lang="en-US" sz="1800" b="true">
                  <a:solidFill>
                    <a:srgbClr val="17233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Lower survival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29500" y="4572000"/>
            <a:ext cx="3429000" cy="1428750"/>
            <a:chOff x="0" y="0"/>
            <a:chExt cx="4572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7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841500"/>
                  </a:lnTo>
                  <a:cubicBezTo>
                    <a:pt x="4572000" y="1876570"/>
                    <a:pt x="4543570" y="1905000"/>
                    <a:pt x="4508500" y="1905000"/>
                  </a:cubicBezTo>
                  <a:lnTo>
                    <a:pt x="63500" y="1905000"/>
                  </a:lnTo>
                  <a:cubicBezTo>
                    <a:pt x="28430" y="1905000"/>
                    <a:pt x="0" y="1876570"/>
                    <a:pt x="0" y="184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01D2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572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800" b="true">
                  <a:solidFill>
                    <a:srgbClr val="FFFAF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SMALL / MID-SIZE</a:t>
              </a:r>
            </a:p>
            <a:p>
              <a:pPr algn="ctr">
                <a:lnSpc>
                  <a:spcPts val="2340"/>
                </a:lnSpc>
              </a:pPr>
              <a:r>
                <a:rPr lang="en-US" sz="1800" b="true">
                  <a:solidFill>
                    <a:srgbClr val="FFFAF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Peak survival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44500" y="6572250"/>
            <a:ext cx="3429000" cy="1428750"/>
            <a:chOff x="0" y="0"/>
            <a:chExt cx="45720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7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841500"/>
                  </a:lnTo>
                  <a:cubicBezTo>
                    <a:pt x="4572000" y="1876570"/>
                    <a:pt x="4543570" y="1905000"/>
                    <a:pt x="4508500" y="1905000"/>
                  </a:cubicBezTo>
                  <a:lnTo>
                    <a:pt x="63500" y="1905000"/>
                  </a:lnTo>
                  <a:cubicBezTo>
                    <a:pt x="28430" y="1905000"/>
                    <a:pt x="0" y="1876570"/>
                    <a:pt x="0" y="184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DFD1B7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572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800" b="true">
                  <a:solidFill>
                    <a:srgbClr val="17233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LARGE</a:t>
              </a:r>
            </a:p>
            <a:p>
              <a:pPr algn="ctr">
                <a:lnSpc>
                  <a:spcPts val="2340"/>
                </a:lnSpc>
              </a:pPr>
              <a:r>
                <a:rPr lang="en-US" sz="1800" b="true">
                  <a:solidFill>
                    <a:srgbClr val="17233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Lower survival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5143500" y="5286375"/>
            <a:ext cx="2286000" cy="1285875"/>
          </a:xfrm>
          <a:prstGeom prst="line">
            <a:avLst/>
          </a:prstGeom>
          <a:ln cap="rnd" w="47625">
            <a:solidFill>
              <a:srgbClr val="AA845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858500" y="5286375"/>
            <a:ext cx="2286000" cy="1285875"/>
          </a:xfrm>
          <a:prstGeom prst="line">
            <a:avLst/>
          </a:prstGeom>
          <a:ln cap="rnd" w="47625">
            <a:solidFill>
              <a:srgbClr val="AA845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5715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AA845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 / CONFOUNDING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323975"/>
            <a:ext cx="114300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172335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Association is not independence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352675"/>
            <a:ext cx="1143000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72335"/>
                </a:solidFill>
                <a:latin typeface="Aptos"/>
                <a:ea typeface="Aptos"/>
                <a:cs typeface="Aptos"/>
                <a:sym typeface="Aptos"/>
              </a:rPr>
              <a:t>Fare, port and cabin are linked to survival — but they largely duplicate ticket class. Check each relationship within class before claiming a separate effect.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14500" y="5381625"/>
            <a:ext cx="2857500" cy="1238250"/>
            <a:chOff x="0" y="0"/>
            <a:chExt cx="3810000" cy="165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810000">
                  <a:moveTo>
                    <a:pt x="63500" y="0"/>
                  </a:moveTo>
                  <a:lnTo>
                    <a:pt x="3746500" y="0"/>
                  </a:lnTo>
                  <a:cubicBezTo>
                    <a:pt x="3781570" y="0"/>
                    <a:pt x="3810000" y="28430"/>
                    <a:pt x="3810000" y="63500"/>
                  </a:cubicBezTo>
                  <a:lnTo>
                    <a:pt x="3810000" y="1587500"/>
                  </a:lnTo>
                  <a:cubicBezTo>
                    <a:pt x="3810000" y="1622570"/>
                    <a:pt x="3781570" y="1651000"/>
                    <a:pt x="3746500" y="1651000"/>
                  </a:cubicBezTo>
                  <a:lnTo>
                    <a:pt x="63500" y="1651000"/>
                  </a:lnTo>
                  <a:cubicBezTo>
                    <a:pt x="28430" y="1651000"/>
                    <a:pt x="0" y="1622570"/>
                    <a:pt x="0" y="158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DFD1B7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810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7233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FARE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097000" y="4953000"/>
            <a:ext cx="2857500" cy="2095500"/>
            <a:chOff x="0" y="0"/>
            <a:chExt cx="3810000" cy="279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63500" y="0"/>
                  </a:moveTo>
                  <a:lnTo>
                    <a:pt x="3746500" y="0"/>
                  </a:lnTo>
                  <a:cubicBezTo>
                    <a:pt x="3781570" y="0"/>
                    <a:pt x="3810000" y="28430"/>
                    <a:pt x="3810000" y="63500"/>
                  </a:cubicBezTo>
                  <a:lnTo>
                    <a:pt x="3810000" y="2730500"/>
                  </a:lnTo>
                  <a:cubicBezTo>
                    <a:pt x="3810000" y="2765570"/>
                    <a:pt x="3781570" y="2794000"/>
                    <a:pt x="3746500" y="2794000"/>
                  </a:cubicBezTo>
                  <a:lnTo>
                    <a:pt x="63500" y="2794000"/>
                  </a:lnTo>
                  <a:cubicBezTo>
                    <a:pt x="28430" y="2794000"/>
                    <a:pt x="0" y="2765570"/>
                    <a:pt x="0" y="2730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01D2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810000" cy="282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2"/>
                </a:lnSpc>
              </a:pPr>
              <a:r>
                <a:rPr lang="en-US" sz="1950" b="true">
                  <a:solidFill>
                    <a:srgbClr val="FFFAF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TICKET CLASS</a:t>
              </a:r>
            </a:p>
            <a:p>
              <a:pPr algn="ctr">
                <a:lnSpc>
                  <a:spcPts val="2632"/>
                </a:lnSpc>
              </a:pPr>
              <a:r>
                <a:rPr lang="en-US" sz="1950" b="true">
                  <a:solidFill>
                    <a:srgbClr val="FFFAF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control within class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4572000" y="6000750"/>
            <a:ext cx="9525000" cy="0"/>
          </a:xfrm>
          <a:prstGeom prst="line">
            <a:avLst/>
          </a:prstGeom>
          <a:ln cap="flat" w="28575">
            <a:solidFill>
              <a:srgbClr val="AA8453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5715000" y="5381625"/>
            <a:ext cx="2857500" cy="1238250"/>
            <a:chOff x="0" y="0"/>
            <a:chExt cx="3810000" cy="165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810000">
                  <a:moveTo>
                    <a:pt x="63500" y="0"/>
                  </a:moveTo>
                  <a:lnTo>
                    <a:pt x="3746500" y="0"/>
                  </a:lnTo>
                  <a:cubicBezTo>
                    <a:pt x="3781570" y="0"/>
                    <a:pt x="3810000" y="28430"/>
                    <a:pt x="3810000" y="63500"/>
                  </a:cubicBezTo>
                  <a:lnTo>
                    <a:pt x="3810000" y="1587500"/>
                  </a:lnTo>
                  <a:cubicBezTo>
                    <a:pt x="3810000" y="1622570"/>
                    <a:pt x="3781570" y="1651000"/>
                    <a:pt x="3746500" y="1651000"/>
                  </a:cubicBezTo>
                  <a:lnTo>
                    <a:pt x="63500" y="1651000"/>
                  </a:lnTo>
                  <a:cubicBezTo>
                    <a:pt x="28430" y="1651000"/>
                    <a:pt x="0" y="1622570"/>
                    <a:pt x="0" y="158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DFD1B7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810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7233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PORT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8572500" y="6000750"/>
            <a:ext cx="5524500" cy="0"/>
          </a:xfrm>
          <a:prstGeom prst="line">
            <a:avLst/>
          </a:prstGeom>
          <a:ln cap="flat" w="28575">
            <a:solidFill>
              <a:srgbClr val="AA8453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715500" y="5381625"/>
            <a:ext cx="2857500" cy="1238250"/>
            <a:chOff x="0" y="0"/>
            <a:chExt cx="3810000" cy="1651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810000">
                  <a:moveTo>
                    <a:pt x="63500" y="0"/>
                  </a:moveTo>
                  <a:lnTo>
                    <a:pt x="3746500" y="0"/>
                  </a:lnTo>
                  <a:cubicBezTo>
                    <a:pt x="3781570" y="0"/>
                    <a:pt x="3810000" y="28430"/>
                    <a:pt x="3810000" y="63500"/>
                  </a:cubicBezTo>
                  <a:lnTo>
                    <a:pt x="3810000" y="1587500"/>
                  </a:lnTo>
                  <a:cubicBezTo>
                    <a:pt x="3810000" y="1622570"/>
                    <a:pt x="3781570" y="1651000"/>
                    <a:pt x="3746500" y="1651000"/>
                  </a:cubicBezTo>
                  <a:lnTo>
                    <a:pt x="63500" y="1651000"/>
                  </a:lnTo>
                  <a:cubicBezTo>
                    <a:pt x="28430" y="1651000"/>
                    <a:pt x="0" y="1622570"/>
                    <a:pt x="0" y="158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DFD1B7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810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7233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CABIN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2573000" y="6000750"/>
            <a:ext cx="1524000" cy="0"/>
          </a:xfrm>
          <a:prstGeom prst="line">
            <a:avLst/>
          </a:prstGeom>
          <a:ln cap="flat" w="28575">
            <a:solidFill>
              <a:srgbClr val="AA8453"/>
            </a:solidFill>
            <a:prstDash val="lgDash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01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666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AA845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 / NEXT ANALYSES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323975"/>
            <a:ext cx="133350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FFFA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Move from patterns to robust models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333750"/>
            <a:ext cx="7239000" cy="2095500"/>
            <a:chOff x="0" y="0"/>
            <a:chExt cx="9652000" cy="279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5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AA8453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652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3333750"/>
            <a:ext cx="7239000" cy="2095500"/>
            <a:chOff x="0" y="0"/>
            <a:chExt cx="9652000" cy="279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5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101D2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652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7750" y="6191250"/>
            <a:ext cx="7239000" cy="2095500"/>
            <a:chOff x="0" y="0"/>
            <a:chExt cx="9652000" cy="279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5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101D2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652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6191250"/>
            <a:ext cx="7239000" cy="2095500"/>
            <a:chOff x="0" y="0"/>
            <a:chExt cx="9652000" cy="279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5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101D2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652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8750" y="3667125"/>
            <a:ext cx="6477000" cy="1171099"/>
            <a:chOff x="0" y="0"/>
            <a:chExt cx="8636000" cy="156146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28575"/>
              <a:ext cx="8636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101D2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  MISSING DATA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669925"/>
              <a:ext cx="8636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AF0"/>
                  </a:solidFill>
                  <a:latin typeface="Aptos"/>
                  <a:ea typeface="Aptos"/>
                  <a:cs typeface="Aptos"/>
                  <a:sym typeface="Aptos"/>
                </a:rPr>
                <a:t>Compare complete-case analysis with principled imputation.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25000" y="3667125"/>
            <a:ext cx="6477000" cy="828199"/>
            <a:chOff x="0" y="0"/>
            <a:chExt cx="8636000" cy="1104265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28575"/>
              <a:ext cx="8636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  FEATURE ENGINEERING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669925"/>
              <a:ext cx="86360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AF0"/>
                  </a:solidFill>
                  <a:latin typeface="Aptos"/>
                  <a:ea typeface="Aptos"/>
                  <a:cs typeface="Aptos"/>
                  <a:sym typeface="Aptos"/>
                </a:rPr>
                <a:t>Build title, family bands and party-level features.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28750" y="6524625"/>
            <a:ext cx="6477000" cy="1171099"/>
            <a:chOff x="0" y="0"/>
            <a:chExt cx="8636000" cy="1561465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28575"/>
              <a:ext cx="8636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  VALIDATION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669925"/>
              <a:ext cx="8636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AF0"/>
                  </a:solidFill>
                  <a:latin typeface="Aptos"/>
                  <a:ea typeface="Aptos"/>
                  <a:cs typeface="Aptos"/>
                  <a:sym typeface="Aptos"/>
                </a:rPr>
                <a:t>Use stratified cross-validation and beat the 78.7% baseline.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25000" y="6524625"/>
            <a:ext cx="6477000" cy="828199"/>
            <a:chOff x="0" y="0"/>
            <a:chExt cx="8636000" cy="1104265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28575"/>
              <a:ext cx="8636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  INTERACTIONS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669925"/>
              <a:ext cx="86360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AF0"/>
                  </a:solidFill>
                  <a:latin typeface="Aptos"/>
                  <a:ea typeface="Aptos"/>
                  <a:cs typeface="Aptos"/>
                  <a:sym typeface="Aptos"/>
                </a:rPr>
                <a:t>Test sex × class and age × title explicitly.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5715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AA845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 / LIMITATIONS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323975"/>
            <a:ext cx="114300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172335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Read the patterns with care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286125"/>
            <a:ext cx="4953000" cy="3714750"/>
            <a:chOff x="0" y="0"/>
            <a:chExt cx="6604000" cy="4953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04000" cy="4953000"/>
              <a:chOff x="0" y="0"/>
              <a:chExt cx="6604000" cy="4953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FFAF0"/>
              </a:solidFill>
              <a:ln w="19050" cap="sq">
                <a:solidFill>
                  <a:srgbClr val="DFD1B7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604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35000" y="479425"/>
              <a:ext cx="5334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ONE VOYAGE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635000" y="1241425"/>
              <a:ext cx="5334000" cy="1348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335"/>
                  </a:solidFill>
                  <a:latin typeface="Aptos"/>
                  <a:ea typeface="Aptos"/>
                  <a:cs typeface="Aptos"/>
                  <a:sym typeface="Aptos"/>
                </a:rPr>
                <a:t>Historical context is specific; results do not generalize automatically.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0" y="3286125"/>
            <a:ext cx="4953000" cy="3714750"/>
            <a:chOff x="0" y="0"/>
            <a:chExt cx="6604000" cy="4953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04000" cy="4953000"/>
              <a:chOff x="0" y="0"/>
              <a:chExt cx="6604000" cy="4953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DFD1B7"/>
              </a:solidFill>
              <a:ln w="19050" cap="sq">
                <a:solidFill>
                  <a:srgbClr val="DFD1B7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604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35000" y="479425"/>
              <a:ext cx="5334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MISSINGNESS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35000" y="1241425"/>
              <a:ext cx="5334000" cy="1348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335"/>
                  </a:solidFill>
                  <a:latin typeface="Aptos"/>
                  <a:ea typeface="Aptos"/>
                  <a:cs typeface="Aptos"/>
                  <a:sym typeface="Aptos"/>
                </a:rPr>
                <a:t>Unknown values may be systematic, especially for age and cabin-related fields.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287250" y="3286125"/>
            <a:ext cx="4953000" cy="3714750"/>
            <a:chOff x="0" y="0"/>
            <a:chExt cx="6604000" cy="4953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604000" cy="4953000"/>
              <a:chOff x="0" y="0"/>
              <a:chExt cx="6604000" cy="4953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4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FFAF0"/>
              </a:solidFill>
              <a:ln w="19050" cap="sq">
                <a:solidFill>
                  <a:srgbClr val="DFD1B7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4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35000" y="479425"/>
              <a:ext cx="5334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ASSOCIATION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35000" y="1241425"/>
              <a:ext cx="5334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335"/>
                  </a:solidFill>
                  <a:latin typeface="Aptos"/>
                  <a:ea typeface="Aptos"/>
                  <a:cs typeface="Aptos"/>
                  <a:sym typeface="Aptos"/>
                </a:rPr>
                <a:t>Observed differences are descriptive, not causal estimates.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01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5715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AA845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 /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609725"/>
            <a:ext cx="9334500" cy="206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6"/>
              </a:lnSpc>
            </a:pPr>
            <a:r>
              <a:rPr lang="en-US" sz="7800">
                <a:solidFill>
                  <a:srgbClr val="FFFA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Sex and class</a:t>
            </a:r>
          </a:p>
          <a:p>
            <a:pPr algn="l">
              <a:lnSpc>
                <a:spcPts val="7956"/>
              </a:lnSpc>
            </a:pPr>
            <a:r>
              <a:rPr lang="en-US" sz="7800">
                <a:solidFill>
                  <a:srgbClr val="FFFA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drove survival.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4876800"/>
            <a:ext cx="904875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AF0"/>
                </a:solidFill>
                <a:latin typeface="Aptos"/>
                <a:ea typeface="Aptos"/>
                <a:cs typeface="Aptos"/>
                <a:sym typeface="Aptos"/>
              </a:rPr>
              <a:t>“Women and children first” intersected with social position. Age, family size and fare add information, but partly duplicate it.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7210425"/>
            <a:ext cx="104775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AA8453"/>
                </a:solidFill>
                <a:latin typeface="Aptos"/>
                <a:ea typeface="Aptos"/>
                <a:cs typeface="Aptos"/>
                <a:sym typeface="Aptos"/>
              </a:rPr>
              <a:t>A strong practice dataset for classification, missing-data handling and feature engineering.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858750" y="3000375"/>
            <a:ext cx="4095750" cy="1211580"/>
            <a:chOff x="0" y="0"/>
            <a:chExt cx="5461000" cy="161544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23825"/>
              <a:ext cx="5461000" cy="1156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en-US" sz="6300">
                  <a:solidFill>
                    <a:srgbClr val="AA845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891 × 11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04925"/>
              <a:ext cx="5461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A845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PASSENGERS × FEATURES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01500" y="2762250"/>
            <a:ext cx="76200" cy="2476500"/>
            <a:chOff x="0" y="0"/>
            <a:chExt cx="101600" cy="330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AA8453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6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DAHWl6-LuXo</dc:identifier>
  <dcterms:modified xsi:type="dcterms:W3CDTF">2011-08-01T06:04:30Z</dcterms:modified>
  <cp:revision>1</cp:revision>
  <dc:title>Titanic Dataset Analysis</dc:title>
</cp:coreProperties>
</file>