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lvetica World" charset="1" panose="020B0500040000020004"/>
      <p:regular r:id="rId14"/>
    </p:embeddedFont>
    <p:embeddedFont>
      <p:font typeface="Poppins" charset="1" panose="00000500000000000000"/>
      <p:regular r:id="rId15"/>
    </p:embeddedFont>
    <p:embeddedFont>
      <p:font typeface="Poppins Italic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1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23740" y="1472267"/>
            <a:ext cx="9913688" cy="9913688"/>
          </a:xfrm>
          <a:custGeom>
            <a:avLst/>
            <a:gdLst/>
            <a:ahLst/>
            <a:cxnLst/>
            <a:rect r="r" b="b" t="t" l="l"/>
            <a:pathLst>
              <a:path h="9913688" w="9913688">
                <a:moveTo>
                  <a:pt x="0" y="0"/>
                </a:moveTo>
                <a:lnTo>
                  <a:pt x="9913688" y="0"/>
                </a:lnTo>
                <a:lnTo>
                  <a:pt x="9913688" y="9913687"/>
                </a:lnTo>
                <a:lnTo>
                  <a:pt x="0" y="99136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70823" y="513381"/>
            <a:ext cx="8744919" cy="8744919"/>
          </a:xfrm>
          <a:custGeom>
            <a:avLst/>
            <a:gdLst/>
            <a:ahLst/>
            <a:cxnLst/>
            <a:rect r="r" b="b" t="t" l="l"/>
            <a:pathLst>
              <a:path h="8744919" w="8744919">
                <a:moveTo>
                  <a:pt x="0" y="0"/>
                </a:moveTo>
                <a:lnTo>
                  <a:pt x="8744919" y="0"/>
                </a:lnTo>
                <a:lnTo>
                  <a:pt x="8744919" y="8744919"/>
                </a:lnTo>
                <a:lnTo>
                  <a:pt x="0" y="8744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786038" y="3127637"/>
            <a:ext cx="12715924" cy="274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738"/>
              </a:lnSpc>
            </a:pPr>
            <a:r>
              <a:rPr lang="en-US" sz="9177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NETFLIX CUSTOMER CHURN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29636" y="6223421"/>
            <a:ext cx="8628728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</a:pPr>
            <a:r>
              <a:rPr lang="en-US" sz="2398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Insights from netflix_customer_churn.csv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03954" y="8128365"/>
            <a:ext cx="5280091" cy="375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 i="true">
                <a:solidFill>
                  <a:srgbClr val="00694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2026-09-29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54248" y="1519924"/>
            <a:ext cx="9179504" cy="31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sz="2398" spc="-11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Netflix Customer Churn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72254" y="51435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73200" y="-377920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35597" y="8434597"/>
            <a:ext cx="823703" cy="823703"/>
          </a:xfrm>
          <a:custGeom>
            <a:avLst/>
            <a:gdLst/>
            <a:ahLst/>
            <a:cxnLst/>
            <a:rect r="r" b="b" t="t" l="l"/>
            <a:pathLst>
              <a:path h="823703" w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165854" y="1623504"/>
            <a:ext cx="7039992" cy="7039992"/>
          </a:xfrm>
          <a:custGeom>
            <a:avLst/>
            <a:gdLst/>
            <a:ahLst/>
            <a:cxnLst/>
            <a:rect r="r" b="b" t="t" l="l"/>
            <a:pathLst>
              <a:path h="7039992" w="7039992">
                <a:moveTo>
                  <a:pt x="0" y="0"/>
                </a:moveTo>
                <a:lnTo>
                  <a:pt x="7039991" y="0"/>
                </a:lnTo>
                <a:lnTo>
                  <a:pt x="7039991" y="7039992"/>
                </a:lnTo>
                <a:lnTo>
                  <a:pt x="0" y="70399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57161" y="2443139"/>
            <a:ext cx="5390233" cy="226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785"/>
              </a:lnSpc>
            </a:pPr>
            <a:r>
              <a:rPr lang="en-US" sz="15201" spc="-212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50.3%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48059" y="6102002"/>
            <a:ext cx="9280639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Average viewing time: 11.65 hours  |  Average days since last login: 30.09 days  |  Average monthly fee: 13.68 zł  |  Most common payment method: Debit Card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5975" y="2822500"/>
            <a:ext cx="3085711" cy="148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07"/>
              </a:lnSpc>
            </a:pPr>
            <a:r>
              <a:rPr lang="en-US" sz="5136" spc="-236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Customer</a:t>
            </a:r>
          </a:p>
          <a:p>
            <a:pPr algn="ctr" marL="0" indent="0" lvl="0">
              <a:lnSpc>
                <a:spcPts val="5907"/>
              </a:lnSpc>
            </a:pPr>
            <a:r>
              <a:rPr lang="en-US" sz="5136" spc="-236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 Rate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412344" y="1394606"/>
            <a:ext cx="7039992" cy="7039992"/>
          </a:xfrm>
          <a:custGeom>
            <a:avLst/>
            <a:gdLst/>
            <a:ahLst/>
            <a:cxnLst/>
            <a:rect r="r" b="b" t="t" l="l"/>
            <a:pathLst>
              <a:path h="7039992" w="7039992">
                <a:moveTo>
                  <a:pt x="0" y="0"/>
                </a:moveTo>
                <a:lnTo>
                  <a:pt x="7039991" y="0"/>
                </a:lnTo>
                <a:lnTo>
                  <a:pt x="7039991" y="7039991"/>
                </a:lnTo>
                <a:lnTo>
                  <a:pt x="0" y="70399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4503681" y="5473341"/>
            <a:ext cx="9280639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57449" y="-2536474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86100" y="5000989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93836" y="7555358"/>
            <a:ext cx="3613543" cy="4114800"/>
          </a:xfrm>
          <a:custGeom>
            <a:avLst/>
            <a:gdLst/>
            <a:ahLst/>
            <a:cxnLst/>
            <a:rect r="r" b="b" t="t" l="l"/>
            <a:pathLst>
              <a:path h="4114800" w="3613543">
                <a:moveTo>
                  <a:pt x="0" y="0"/>
                </a:moveTo>
                <a:lnTo>
                  <a:pt x="3613542" y="0"/>
                </a:lnTo>
                <a:lnTo>
                  <a:pt x="3613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5007" y="2204396"/>
            <a:ext cx="15097985" cy="1319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44"/>
              </a:lnSpc>
            </a:pPr>
            <a:r>
              <a:rPr lang="en-US" sz="8841" spc="-123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 Rate Variation by Region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3923" y="4649565"/>
            <a:ext cx="2021050" cy="100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124455" y="4649565"/>
            <a:ext cx="2021050" cy="100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166402" y="4649565"/>
            <a:ext cx="2021050" cy="100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380479" y="5934995"/>
            <a:ext cx="3231570" cy="205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</a:pPr>
            <a:r>
              <a:rPr lang="en-US" sz="148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Regional churn rates show notable differences across geographies. Some regions exhibit significantly higher churn, suggesting localized dissatisfaction or competitive pressure from alternative streaming services.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68755" y="5934995"/>
            <a:ext cx="3231570" cy="180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</a:pPr>
            <a:r>
              <a:rPr lang="en-US" sz="148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Retention patterns vary by region, indicating that a one-size-fits-all approach may be insufficient. Targeted regional strategies — such as localized content or pricing adjustments — could help reduce churn in high-risk areas.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57032" y="5934995"/>
            <a:ext cx="3231570" cy="180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</a:pPr>
            <a:r>
              <a:rPr lang="en-US" sz="148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The overall churn rate stands at 50.3%, but regional breakdowns reveal clusters of both loyal and at-risk customers. Understanding these geographic segments is key to prioritizing retention investments effectively.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872249" y="-561615"/>
            <a:ext cx="3613543" cy="4114800"/>
          </a:xfrm>
          <a:custGeom>
            <a:avLst/>
            <a:gdLst/>
            <a:ahLst/>
            <a:cxnLst/>
            <a:rect r="r" b="b" t="t" l="l"/>
            <a:pathLst>
              <a:path h="4114800" w="3613543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2380479" y="4091845"/>
            <a:ext cx="13445154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15460" y="4960027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45479" y="-2534345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89032" y="2316872"/>
            <a:ext cx="9502613" cy="6354947"/>
          </a:xfrm>
          <a:custGeom>
            <a:avLst/>
            <a:gdLst/>
            <a:ahLst/>
            <a:cxnLst/>
            <a:rect r="r" b="b" t="t" l="l"/>
            <a:pathLst>
              <a:path h="6354947" w="9502613">
                <a:moveTo>
                  <a:pt x="0" y="0"/>
                </a:moveTo>
                <a:lnTo>
                  <a:pt x="9502613" y="0"/>
                </a:lnTo>
                <a:lnTo>
                  <a:pt x="9502613" y="6354947"/>
                </a:lnTo>
                <a:lnTo>
                  <a:pt x="0" y="63549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32098" y="2431553"/>
            <a:ext cx="9610904" cy="85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88"/>
              </a:lnSpc>
            </a:pPr>
            <a:r>
              <a:rPr lang="en-US" sz="5716" spc="-8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Average Usage by Device Type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97376" y="4979225"/>
            <a:ext cx="3893249" cy="51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0"/>
              </a:lnSpc>
            </a:pPr>
            <a:r>
              <a:rPr lang="en-US" sz="3522" spc="-49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Watch Hours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99851" y="5918074"/>
            <a:ext cx="3231570" cy="178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</a:pPr>
            <a:r>
              <a:rPr lang="en-US" sz="170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Devices such as Smart TVs and laptops tend to show higher average watch hours overall, suggesting longer, more immersive viewing sessions on larger screens.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88127" y="5918074"/>
            <a:ext cx="3231570" cy="2080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</a:pPr>
            <a:r>
              <a:rPr lang="en-US" sz="1705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Mobile and tablet users show distinct daily watch time patterns. Understanding these differences helps identify which devices drive deeper engagement and loyalty.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88127" y="4979225"/>
            <a:ext cx="3893249" cy="51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0"/>
              </a:lnSpc>
            </a:pPr>
            <a:r>
              <a:rPr lang="en-US" sz="3522" spc="-49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Watch Time Per Day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7062363" y="4127376"/>
            <a:ext cx="9280639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74143" y="-41148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20091" y="5985737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08076" y="-539501"/>
            <a:ext cx="8799076" cy="7264072"/>
          </a:xfrm>
          <a:custGeom>
            <a:avLst/>
            <a:gdLst/>
            <a:ahLst/>
            <a:cxnLst/>
            <a:rect r="r" b="b" t="t" l="l"/>
            <a:pathLst>
              <a:path h="7264072" w="8799076">
                <a:moveTo>
                  <a:pt x="0" y="0"/>
                </a:moveTo>
                <a:lnTo>
                  <a:pt x="8799075" y="0"/>
                </a:lnTo>
                <a:lnTo>
                  <a:pt x="8799075" y="7264072"/>
                </a:lnTo>
                <a:lnTo>
                  <a:pt x="0" y="7264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35597" y="8434597"/>
            <a:ext cx="823703" cy="823703"/>
          </a:xfrm>
          <a:custGeom>
            <a:avLst/>
            <a:gdLst/>
            <a:ahLst/>
            <a:cxnLst/>
            <a:rect r="r" b="b" t="t" l="l"/>
            <a:pathLst>
              <a:path h="823703" w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66372" y="2264563"/>
            <a:ext cx="9585350" cy="267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69"/>
              </a:lnSpc>
            </a:pPr>
            <a:r>
              <a:rPr lang="en-US" sz="9033" spc="-126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Viewing Hours Distribution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66372" y="6111527"/>
            <a:ext cx="9280639" cy="212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7"/>
              </a:lnSpc>
            </a:pPr>
            <a:r>
              <a:rPr lang="en-US" sz="1983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The distribution of watch_hours reveals a broad spread of viewing behavior across customers. The average viewing time is 11.65 hours, with notable clusters at both low and high ends, suggesting distinct viewer segments — from casual to highly engaged users. Outliers at the upper range may indicate binge-watching patterns worth exploring for retention strategies.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2166372" y="5476003"/>
            <a:ext cx="9280639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86100" y="5000989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22243" y="4043588"/>
            <a:ext cx="2463257" cy="1936736"/>
          </a:xfrm>
          <a:custGeom>
            <a:avLst/>
            <a:gdLst/>
            <a:ahLst/>
            <a:cxnLst/>
            <a:rect r="r" b="b" t="t" l="l"/>
            <a:pathLst>
              <a:path h="1936736" w="2463257">
                <a:moveTo>
                  <a:pt x="0" y="0"/>
                </a:moveTo>
                <a:lnTo>
                  <a:pt x="2463257" y="0"/>
                </a:lnTo>
                <a:lnTo>
                  <a:pt x="2463257" y="1936736"/>
                </a:lnTo>
                <a:lnTo>
                  <a:pt x="0" y="1936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39154" y="6404368"/>
            <a:ext cx="2264123" cy="2133936"/>
          </a:xfrm>
          <a:custGeom>
            <a:avLst/>
            <a:gdLst/>
            <a:ahLst/>
            <a:cxnLst/>
            <a:rect r="r" b="b" t="t" l="l"/>
            <a:pathLst>
              <a:path h="2133936" w="2264123">
                <a:moveTo>
                  <a:pt x="0" y="0"/>
                </a:moveTo>
                <a:lnTo>
                  <a:pt x="2264123" y="0"/>
                </a:lnTo>
                <a:lnTo>
                  <a:pt x="2264123" y="2133937"/>
                </a:lnTo>
                <a:lnTo>
                  <a:pt x="0" y="2133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84596" y="3952388"/>
            <a:ext cx="1971555" cy="2016936"/>
          </a:xfrm>
          <a:custGeom>
            <a:avLst/>
            <a:gdLst/>
            <a:ahLst/>
            <a:cxnLst/>
            <a:rect r="r" b="b" t="t" l="l"/>
            <a:pathLst>
              <a:path h="2016936" w="1971555">
                <a:moveTo>
                  <a:pt x="0" y="0"/>
                </a:moveTo>
                <a:lnTo>
                  <a:pt x="1971556" y="0"/>
                </a:lnTo>
                <a:lnTo>
                  <a:pt x="1971556" y="2016936"/>
                </a:lnTo>
                <a:lnTo>
                  <a:pt x="0" y="201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76301" y="6603710"/>
            <a:ext cx="1940587" cy="1943016"/>
          </a:xfrm>
          <a:custGeom>
            <a:avLst/>
            <a:gdLst/>
            <a:ahLst/>
            <a:cxnLst/>
            <a:rect r="r" b="b" t="t" l="l"/>
            <a:pathLst>
              <a:path h="1943016" w="1940587">
                <a:moveTo>
                  <a:pt x="0" y="0"/>
                </a:moveTo>
                <a:lnTo>
                  <a:pt x="1940587" y="0"/>
                </a:lnTo>
                <a:lnTo>
                  <a:pt x="1940587" y="1943016"/>
                </a:lnTo>
                <a:lnTo>
                  <a:pt x="0" y="19430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23562" y="4020607"/>
            <a:ext cx="2017221" cy="1977048"/>
          </a:xfrm>
          <a:custGeom>
            <a:avLst/>
            <a:gdLst/>
            <a:ahLst/>
            <a:cxnLst/>
            <a:rect r="r" b="b" t="t" l="l"/>
            <a:pathLst>
              <a:path h="1977048" w="2017221">
                <a:moveTo>
                  <a:pt x="0" y="0"/>
                </a:moveTo>
                <a:lnTo>
                  <a:pt x="2017220" y="0"/>
                </a:lnTo>
                <a:lnTo>
                  <a:pt x="2017220" y="1977048"/>
                </a:lnTo>
                <a:lnTo>
                  <a:pt x="0" y="19770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90683" y="6714911"/>
            <a:ext cx="1920165" cy="1834488"/>
          </a:xfrm>
          <a:custGeom>
            <a:avLst/>
            <a:gdLst/>
            <a:ahLst/>
            <a:cxnLst/>
            <a:rect r="r" b="b" t="t" l="l"/>
            <a:pathLst>
              <a:path h="1834488" w="1920165">
                <a:moveTo>
                  <a:pt x="0" y="0"/>
                </a:moveTo>
                <a:lnTo>
                  <a:pt x="1920165" y="0"/>
                </a:lnTo>
                <a:lnTo>
                  <a:pt x="1920165" y="1834488"/>
                </a:lnTo>
                <a:lnTo>
                  <a:pt x="0" y="18344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12727" y="1975348"/>
            <a:ext cx="10793180" cy="89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29"/>
              </a:lnSpc>
            </a:pPr>
            <a:r>
              <a:rPr lang="en-US" sz="6008" spc="-84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Payment Methods &amp; Descriptives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58493" y="7816894"/>
            <a:ext cx="3676122" cy="79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06"/>
              </a:lnSpc>
            </a:pPr>
            <a:r>
              <a:rPr lang="en-US" sz="2655" spc="-37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SUPPORTING</a:t>
            </a:r>
          </a:p>
          <a:p>
            <a:pPr algn="r" marL="0" indent="0" lvl="0">
              <a:lnSpc>
                <a:spcPts val="3106"/>
              </a:lnSpc>
            </a:pPr>
            <a:r>
              <a:rPr lang="en-US" sz="2655" spc="-37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STATISTICS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54524" y="8883015"/>
            <a:ext cx="528009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00694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Netflix Customer Churn Analysis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819815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2636090" y="3343966"/>
            <a:ext cx="9280639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53535" y="-351734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86100" y="5225251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46516" y="1662206"/>
            <a:ext cx="7126090" cy="7126090"/>
          </a:xfrm>
          <a:custGeom>
            <a:avLst/>
            <a:gdLst/>
            <a:ahLst/>
            <a:cxnLst/>
            <a:rect r="r" b="b" t="t" l="l"/>
            <a:pathLst>
              <a:path h="7126090" w="7126090">
                <a:moveTo>
                  <a:pt x="0" y="0"/>
                </a:moveTo>
                <a:lnTo>
                  <a:pt x="7126089" y="0"/>
                </a:lnTo>
                <a:lnTo>
                  <a:pt x="7126089" y="7126090"/>
                </a:lnTo>
                <a:lnTo>
                  <a:pt x="0" y="71260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32098" y="2299394"/>
            <a:ext cx="9610904" cy="113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81"/>
              </a:lnSpc>
            </a:pPr>
            <a:r>
              <a:rPr lang="en-US" sz="7591" spc="-106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Summary &amp; 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99851" y="5918074"/>
            <a:ext cx="3231570" cy="334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6"/>
              </a:lnSpc>
            </a:pPr>
            <a:r>
              <a:rPr lang="en-US" sz="1883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Churn rate at 50.3% remains a critical challenge. Regional differences suggest targeted retention strategies, while device usage and viewing patterns can inform personalized engagement approaches.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88127" y="5918074"/>
            <a:ext cx="3231570" cy="267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6"/>
              </a:lnSpc>
            </a:pPr>
            <a:r>
              <a:rPr lang="en-US" sz="1883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Payment method insights may influence billing strategies. Open questions remain on churn drivers, customer segmentation, and the impact of login frequency (avg. 30.09 days) on retention.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99851" y="4731316"/>
            <a:ext cx="2021050" cy="100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188127" y="4731316"/>
            <a:ext cx="2021050" cy="100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6"/>
              </a:lnSpc>
            </a:pPr>
          </a:p>
        </p:txBody>
      </p:sp>
      <p:sp>
        <p:nvSpPr>
          <p:cNvPr name="AutoShape 11" id="11"/>
          <p:cNvSpPr/>
          <p:nvPr/>
        </p:nvSpPr>
        <p:spPr>
          <a:xfrm flipV="true">
            <a:off x="6897231" y="4133786"/>
            <a:ext cx="9280639" cy="0"/>
          </a:xfrm>
          <a:prstGeom prst="line">
            <a:avLst/>
          </a:prstGeom>
          <a:ln cap="flat" w="19050">
            <a:solidFill>
              <a:srgbClr val="00694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86038" y="3127637"/>
            <a:ext cx="12715924" cy="274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738"/>
              </a:lnSpc>
            </a:pPr>
            <a:r>
              <a:rPr lang="en-US" sz="9177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LET'S KEEP</a:t>
            </a:r>
          </a:p>
          <a:p>
            <a:pPr algn="ctr" marL="0" indent="0" lvl="0">
              <a:lnSpc>
                <a:spcPts val="10738"/>
              </a:lnSpc>
            </a:pPr>
            <a:r>
              <a:rPr lang="en-US" sz="9177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ANALYZING!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29636" y="6232946"/>
            <a:ext cx="8628728" cy="145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5"/>
              </a:lnSpc>
            </a:pPr>
            <a:r>
              <a:rPr lang="en-US" sz="2046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Open questions remain: What drives churn beyond the 50.3% rate? How does login frequency impact retention? Can customer segmentation reveal deeper behavioral patterns? We invite your proposals and further discussion.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03954" y="8128365"/>
            <a:ext cx="5280091" cy="32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7"/>
              </a:lnSpc>
              <a:spcBef>
                <a:spcPct val="0"/>
              </a:spcBef>
            </a:pPr>
            <a:r>
              <a:rPr lang="en-US" sz="1790" i="true">
                <a:solidFill>
                  <a:srgbClr val="00694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www.reallygreatsite.com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54248" y="1536150"/>
            <a:ext cx="9179504" cy="26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41"/>
              </a:lnSpc>
            </a:pPr>
            <a:r>
              <a:rPr lang="en-US" sz="2046" spc="-94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Netflix Customer Churn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DAHWl1UzcHA</dc:identifier>
  <dcterms:modified xsi:type="dcterms:W3CDTF">2011-08-01T06:04:30Z</dcterms:modified>
  <cp:revision>1</cp:revision>
  <dc:title>Non Text Magic Studio Magic Design for Presentations L&amp;P</dc:title>
</cp:coreProperties>
</file>